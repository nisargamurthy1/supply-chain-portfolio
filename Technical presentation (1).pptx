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0"/>
  </p:notesMasterIdLst>
  <p:sldIdLst>
    <p:sldId id="256" r:id="rId2"/>
    <p:sldId id="257" r:id="rId3"/>
    <p:sldId id="265" r:id="rId4"/>
    <p:sldId id="259" r:id="rId5"/>
    <p:sldId id="267" r:id="rId6"/>
    <p:sldId id="262" r:id="rId7"/>
    <p:sldId id="270" r:id="rId8"/>
    <p:sldId id="27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87"/>
    <p:restoredTop sz="80374"/>
  </p:normalViewPr>
  <p:slideViewPr>
    <p:cSldViewPr snapToGrid="0">
      <p:cViewPr varScale="1">
        <p:scale>
          <a:sx n="104" d="100"/>
          <a:sy n="104" d="100"/>
        </p:scale>
        <p:origin x="11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image" Target="../media/image19.svg"/><Relationship Id="rId16" Type="http://schemas.openxmlformats.org/officeDocument/2006/relationships/image" Target="../media/image33.svg"/><Relationship Id="rId1" Type="http://schemas.openxmlformats.org/officeDocument/2006/relationships/image" Target="../media/image18.png"/><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 Id="rId14" Type="http://schemas.openxmlformats.org/officeDocument/2006/relationships/image" Target="../media/image31.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image" Target="../media/image19.svg"/><Relationship Id="rId16" Type="http://schemas.openxmlformats.org/officeDocument/2006/relationships/image" Target="../media/image33.svg"/><Relationship Id="rId1" Type="http://schemas.openxmlformats.org/officeDocument/2006/relationships/image" Target="../media/image18.png"/><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 Id="rId14" Type="http://schemas.openxmlformats.org/officeDocument/2006/relationships/image" Target="../media/image3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966ECF-4031-486E-95AE-AE444440D87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553FCE4-1D00-4F49-A613-DF1AEE447AC7}">
      <dgm:prSet custT="1"/>
      <dgm:spPr/>
      <dgm:t>
        <a:bodyPr/>
        <a:lstStyle/>
        <a:p>
          <a:r>
            <a:rPr lang="en-US" sz="1600" b="1" dirty="0">
              <a:latin typeface="Times New Roman" panose="02020603050405020304" pitchFamily="18" charset="0"/>
              <a:cs typeface="Times New Roman" panose="02020603050405020304" pitchFamily="18" charset="0"/>
            </a:rPr>
            <a:t>🏭 Case Study: Mercedes-Benz Trucks</a:t>
          </a:r>
          <a:endParaRPr lang="en-US" sz="1600" dirty="0">
            <a:latin typeface="Times New Roman" panose="02020603050405020304" pitchFamily="18" charset="0"/>
            <a:cs typeface="Times New Roman" panose="02020603050405020304" pitchFamily="18" charset="0"/>
          </a:endParaRPr>
        </a:p>
      </dgm:t>
    </dgm:pt>
    <dgm:pt modelId="{CE425D8D-6B96-4A96-92CF-09BE03BAA451}" type="parTrans" cxnId="{251203AB-E1F9-4F79-9627-8DED882F3658}">
      <dgm:prSet/>
      <dgm:spPr/>
      <dgm:t>
        <a:bodyPr/>
        <a:lstStyle/>
        <a:p>
          <a:endParaRPr lang="en-US" sz="1600"/>
        </a:p>
      </dgm:t>
    </dgm:pt>
    <dgm:pt modelId="{85EF0BE7-A7CA-43CE-A8FF-F275779B8B47}" type="sibTrans" cxnId="{251203AB-E1F9-4F79-9627-8DED882F3658}">
      <dgm:prSet/>
      <dgm:spPr/>
      <dgm:t>
        <a:bodyPr/>
        <a:lstStyle/>
        <a:p>
          <a:endParaRPr lang="en-US" sz="1600"/>
        </a:p>
      </dgm:t>
    </dgm:pt>
    <dgm:pt modelId="{F8964432-EF8B-4E30-9DFB-F2EB2AE72046}">
      <dgm:prSet custT="1"/>
      <dgm:spPr/>
      <dgm:t>
        <a:bodyPr/>
        <a:lstStyle/>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Structural mismatches in Service BOMs led to:</a:t>
          </a:r>
        </a:p>
      </dgm:t>
    </dgm:pt>
    <dgm:pt modelId="{A721B7B6-7ED4-4E44-8C24-1FFE9A1FE089}" type="parTrans" cxnId="{B93CC1F5-A59F-49BA-8BEB-987EC0E47047}">
      <dgm:prSet/>
      <dgm:spPr/>
      <dgm:t>
        <a:bodyPr/>
        <a:lstStyle/>
        <a:p>
          <a:endParaRPr lang="en-US" sz="1600"/>
        </a:p>
      </dgm:t>
    </dgm:pt>
    <dgm:pt modelId="{7679A700-93A9-4628-BA43-9729FFF122BA}" type="sibTrans" cxnId="{B93CC1F5-A59F-49BA-8BEB-987EC0E47047}">
      <dgm:prSet/>
      <dgm:spPr/>
      <dgm:t>
        <a:bodyPr/>
        <a:lstStyle/>
        <a:p>
          <a:endParaRPr lang="en-US" sz="1600"/>
        </a:p>
      </dgm:t>
    </dgm:pt>
    <dgm:pt modelId="{3E5A942E-D720-4FE0-8BA3-2E3C192828C1}">
      <dgm:prSet custT="1"/>
      <dgm:spPr/>
      <dgm:t>
        <a:bodyPr/>
        <a:lstStyle/>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Wrong part orders</a:t>
          </a:r>
        </a:p>
      </dgm:t>
    </dgm:pt>
    <dgm:pt modelId="{393C3496-DE81-4F15-81F8-9E2655B15D66}" type="parTrans" cxnId="{602C959F-64D1-45B0-AD29-6EC17920537E}">
      <dgm:prSet/>
      <dgm:spPr/>
      <dgm:t>
        <a:bodyPr/>
        <a:lstStyle/>
        <a:p>
          <a:endParaRPr lang="en-US" sz="1600"/>
        </a:p>
      </dgm:t>
    </dgm:pt>
    <dgm:pt modelId="{07D857CF-E1ED-42E6-B805-BC460CB64CD7}" type="sibTrans" cxnId="{602C959F-64D1-45B0-AD29-6EC17920537E}">
      <dgm:prSet/>
      <dgm:spPr/>
      <dgm:t>
        <a:bodyPr/>
        <a:lstStyle/>
        <a:p>
          <a:endParaRPr lang="en-US" sz="1600"/>
        </a:p>
      </dgm:t>
    </dgm:pt>
    <dgm:pt modelId="{D128B15A-7EE9-4E1B-9A2A-6620C0DC2A8C}">
      <dgm:prSet custT="1"/>
      <dgm:spPr/>
      <dgm:t>
        <a:bodyPr/>
        <a:lstStyle/>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Delays in repairs</a:t>
          </a:r>
        </a:p>
      </dgm:t>
    </dgm:pt>
    <dgm:pt modelId="{24044DE2-35C5-4FD9-B88A-DB7EC5830F7A}" type="parTrans" cxnId="{AD34862A-D68A-4434-97EA-14250D7226E7}">
      <dgm:prSet/>
      <dgm:spPr/>
      <dgm:t>
        <a:bodyPr/>
        <a:lstStyle/>
        <a:p>
          <a:endParaRPr lang="en-US" sz="1600"/>
        </a:p>
      </dgm:t>
    </dgm:pt>
    <dgm:pt modelId="{C98CA7E4-80B7-4056-8939-24FD6CD7BFB1}" type="sibTrans" cxnId="{AD34862A-D68A-4434-97EA-14250D7226E7}">
      <dgm:prSet/>
      <dgm:spPr/>
      <dgm:t>
        <a:bodyPr/>
        <a:lstStyle/>
        <a:p>
          <a:endParaRPr lang="en-US" sz="1600"/>
        </a:p>
      </dgm:t>
    </dgm:pt>
    <dgm:pt modelId="{359C5EED-E0B7-41F1-A0D1-F409FFEE47F6}">
      <dgm:prSet custT="1"/>
      <dgm:spPr/>
      <dgm:t>
        <a:bodyPr/>
        <a:lstStyle/>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Missed first-time fix targets</a:t>
          </a:r>
        </a:p>
      </dgm:t>
    </dgm:pt>
    <dgm:pt modelId="{5810FA37-B43E-43A8-92AF-C97292D7DD7E}" type="parTrans" cxnId="{B3041FF8-62EC-490E-A5D6-30E9DF71409A}">
      <dgm:prSet/>
      <dgm:spPr/>
      <dgm:t>
        <a:bodyPr/>
        <a:lstStyle/>
        <a:p>
          <a:endParaRPr lang="en-US" sz="1600"/>
        </a:p>
      </dgm:t>
    </dgm:pt>
    <dgm:pt modelId="{ADAD18A1-C3D1-44C5-9C0B-7D4E03A43542}" type="sibTrans" cxnId="{B3041FF8-62EC-490E-A5D6-30E9DF71409A}">
      <dgm:prSet/>
      <dgm:spPr/>
      <dgm:t>
        <a:bodyPr/>
        <a:lstStyle/>
        <a:p>
          <a:endParaRPr lang="en-US" sz="1600"/>
        </a:p>
      </dgm:t>
    </dgm:pt>
    <dgm:pt modelId="{D9E444E9-7D5F-41B9-BE5A-2F2E3F3E6705}">
      <dgm:prSet custT="1"/>
      <dgm:spPr/>
      <dgm:t>
        <a:bodyPr/>
        <a:lstStyle/>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Metrics Tracked:</a:t>
          </a:r>
        </a:p>
      </dgm:t>
    </dgm:pt>
    <dgm:pt modelId="{BC999029-79ED-4E31-BF1D-6122E7A101D2}" type="parTrans" cxnId="{86E351DD-CDDF-43B1-8542-E7B1B13FC89F}">
      <dgm:prSet/>
      <dgm:spPr/>
      <dgm:t>
        <a:bodyPr/>
        <a:lstStyle/>
        <a:p>
          <a:endParaRPr lang="en-US" sz="1600"/>
        </a:p>
      </dgm:t>
    </dgm:pt>
    <dgm:pt modelId="{129B1DB5-9B95-4769-981C-561FF0EEC897}" type="sibTrans" cxnId="{86E351DD-CDDF-43B1-8542-E7B1B13FC89F}">
      <dgm:prSet/>
      <dgm:spPr/>
      <dgm:t>
        <a:bodyPr/>
        <a:lstStyle/>
        <a:p>
          <a:endParaRPr lang="en-US" sz="1600"/>
        </a:p>
      </dgm:t>
    </dgm:pt>
    <dgm:pt modelId="{E58F6CD2-1F1A-4AF1-BD93-554028326DB4}">
      <dgm:prSet custT="1"/>
      <dgm:spPr/>
      <dgm:t>
        <a:bodyPr/>
        <a:lstStyle/>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BOM accuracy %</a:t>
          </a:r>
        </a:p>
      </dgm:t>
    </dgm:pt>
    <dgm:pt modelId="{7153AFDB-BE7C-4C54-AD96-78C6A2E6E0C9}" type="parTrans" cxnId="{F9D4D7A5-20F2-42B4-9D46-7CBAFF1CF191}">
      <dgm:prSet/>
      <dgm:spPr/>
      <dgm:t>
        <a:bodyPr/>
        <a:lstStyle/>
        <a:p>
          <a:endParaRPr lang="en-US" sz="1600"/>
        </a:p>
      </dgm:t>
    </dgm:pt>
    <dgm:pt modelId="{FBD9E11A-38E7-461A-92C1-06E9E34F28F0}" type="sibTrans" cxnId="{F9D4D7A5-20F2-42B4-9D46-7CBAFF1CF191}">
      <dgm:prSet/>
      <dgm:spPr/>
      <dgm:t>
        <a:bodyPr/>
        <a:lstStyle/>
        <a:p>
          <a:endParaRPr lang="en-US" sz="1600"/>
        </a:p>
      </dgm:t>
    </dgm:pt>
    <dgm:pt modelId="{1CB9148E-6065-4AA9-BB65-21511522C0CA}">
      <dgm:prSet custT="1"/>
      <dgm:spPr/>
      <dgm:t>
        <a:bodyPr/>
        <a:lstStyle/>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Change cycle time (avg. 7 days pre-project)</a:t>
          </a:r>
        </a:p>
      </dgm:t>
    </dgm:pt>
    <dgm:pt modelId="{8B75302E-BA91-4C8D-800E-3965CDCE8E22}" type="parTrans" cxnId="{8BCDD80B-C6A9-4FD4-B99A-F40C023A57F0}">
      <dgm:prSet/>
      <dgm:spPr/>
      <dgm:t>
        <a:bodyPr/>
        <a:lstStyle/>
        <a:p>
          <a:endParaRPr lang="en-US" sz="1600"/>
        </a:p>
      </dgm:t>
    </dgm:pt>
    <dgm:pt modelId="{3B194743-05E6-40E5-B079-59354B666AEE}" type="sibTrans" cxnId="{8BCDD80B-C6A9-4FD4-B99A-F40C023A57F0}">
      <dgm:prSet/>
      <dgm:spPr/>
      <dgm:t>
        <a:bodyPr/>
        <a:lstStyle/>
        <a:p>
          <a:endParaRPr lang="en-US" sz="1600"/>
        </a:p>
      </dgm:t>
    </dgm:pt>
    <dgm:pt modelId="{870A32C6-6F14-4E16-B7E7-1311801252EF}">
      <dgm:prSet custT="1"/>
      <dgm:spPr/>
      <dgm:t>
        <a:bodyPr/>
        <a:lstStyle/>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Number of field ticket escalations</a:t>
          </a:r>
        </a:p>
      </dgm:t>
    </dgm:pt>
    <dgm:pt modelId="{F8522249-74A0-4E6A-B0B1-8709EA5AC462}" type="parTrans" cxnId="{240B5BAF-D0C0-4EFA-BFF3-B5AD1C212432}">
      <dgm:prSet/>
      <dgm:spPr/>
      <dgm:t>
        <a:bodyPr/>
        <a:lstStyle/>
        <a:p>
          <a:endParaRPr lang="en-US" sz="1600"/>
        </a:p>
      </dgm:t>
    </dgm:pt>
    <dgm:pt modelId="{E224A0FD-51CE-46D6-90C4-B12E1258AD25}" type="sibTrans" cxnId="{240B5BAF-D0C0-4EFA-BFF3-B5AD1C212432}">
      <dgm:prSet/>
      <dgm:spPr/>
      <dgm:t>
        <a:bodyPr/>
        <a:lstStyle/>
        <a:p>
          <a:endParaRPr lang="en-US" sz="1600"/>
        </a:p>
      </dgm:t>
    </dgm:pt>
    <dgm:pt modelId="{75875B7E-7B40-824D-A664-0E6B7F2E1A1C}">
      <dgm:prSet custT="1"/>
      <dgm:spPr/>
      <dgm:t>
        <a:bodyPr/>
        <a:lstStyle/>
        <a:p>
          <a:pP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dgm:t>
    </dgm:pt>
    <dgm:pt modelId="{796850AE-C70D-6441-8A43-E153A0A67115}" type="parTrans" cxnId="{154EA08E-D6D9-A140-A52F-945D9A782A03}">
      <dgm:prSet/>
      <dgm:spPr/>
      <dgm:t>
        <a:bodyPr/>
        <a:lstStyle/>
        <a:p>
          <a:endParaRPr lang="en-US" sz="1600"/>
        </a:p>
      </dgm:t>
    </dgm:pt>
    <dgm:pt modelId="{12D9E9D3-BD4D-D148-BC60-F077A78F5BC1}" type="sibTrans" cxnId="{154EA08E-D6D9-A140-A52F-945D9A782A03}">
      <dgm:prSet/>
      <dgm:spPr/>
      <dgm:t>
        <a:bodyPr/>
        <a:lstStyle/>
        <a:p>
          <a:endParaRPr lang="en-US" sz="1600"/>
        </a:p>
      </dgm:t>
    </dgm:pt>
    <dgm:pt modelId="{6A60C109-296C-784F-97B6-E6319B1FCAA6}" type="pres">
      <dgm:prSet presAssocID="{F2966ECF-4031-486E-95AE-AE444440D87C}" presName="linear" presStyleCnt="0">
        <dgm:presLayoutVars>
          <dgm:dir/>
          <dgm:animLvl val="lvl"/>
          <dgm:resizeHandles val="exact"/>
        </dgm:presLayoutVars>
      </dgm:prSet>
      <dgm:spPr/>
    </dgm:pt>
    <dgm:pt modelId="{6C7C0AA8-75C7-8941-A60B-DF934E0D5824}" type="pres">
      <dgm:prSet presAssocID="{5553FCE4-1D00-4F49-A613-DF1AEE447AC7}" presName="parentLin" presStyleCnt="0"/>
      <dgm:spPr/>
    </dgm:pt>
    <dgm:pt modelId="{6ABDC2F4-359F-374F-8590-BEC5F3C469EE}" type="pres">
      <dgm:prSet presAssocID="{5553FCE4-1D00-4F49-A613-DF1AEE447AC7}" presName="parentLeftMargin" presStyleLbl="node1" presStyleIdx="0" presStyleCnt="1"/>
      <dgm:spPr/>
    </dgm:pt>
    <dgm:pt modelId="{01DF5736-CD59-9246-B229-0AC3650D250B}" type="pres">
      <dgm:prSet presAssocID="{5553FCE4-1D00-4F49-A613-DF1AEE447AC7}" presName="parentText" presStyleLbl="node1" presStyleIdx="0" presStyleCnt="1">
        <dgm:presLayoutVars>
          <dgm:chMax val="0"/>
          <dgm:bulletEnabled val="1"/>
        </dgm:presLayoutVars>
      </dgm:prSet>
      <dgm:spPr/>
    </dgm:pt>
    <dgm:pt modelId="{14ACAE3A-FEAF-4049-9248-593901011A11}" type="pres">
      <dgm:prSet presAssocID="{5553FCE4-1D00-4F49-A613-DF1AEE447AC7}" presName="negativeSpace" presStyleCnt="0"/>
      <dgm:spPr/>
    </dgm:pt>
    <dgm:pt modelId="{2E20079B-C6E3-2A48-9592-58210125C2AB}" type="pres">
      <dgm:prSet presAssocID="{5553FCE4-1D00-4F49-A613-DF1AEE447AC7}" presName="childText" presStyleLbl="conFgAcc1" presStyleIdx="0" presStyleCnt="1">
        <dgm:presLayoutVars>
          <dgm:bulletEnabled val="1"/>
        </dgm:presLayoutVars>
      </dgm:prSet>
      <dgm:spPr/>
    </dgm:pt>
  </dgm:ptLst>
  <dgm:cxnLst>
    <dgm:cxn modelId="{8BCDD80B-C6A9-4FD4-B99A-F40C023A57F0}" srcId="{D9E444E9-7D5F-41B9-BE5A-2F2E3F3E6705}" destId="{1CB9148E-6065-4AA9-BB65-21511522C0CA}" srcOrd="1" destOrd="0" parTransId="{8B75302E-BA91-4C8D-800E-3965CDCE8E22}" sibTransId="{3B194743-05E6-40E5-B079-59354B666AEE}"/>
    <dgm:cxn modelId="{4D11411C-8A49-F541-8649-8B165C5AFD95}" type="presOf" srcId="{3E5A942E-D720-4FE0-8BA3-2E3C192828C1}" destId="{2E20079B-C6E3-2A48-9592-58210125C2AB}" srcOrd="0" destOrd="1" presId="urn:microsoft.com/office/officeart/2005/8/layout/list1"/>
    <dgm:cxn modelId="{6956DD29-8EEE-0644-9EDB-382934F99422}" type="presOf" srcId="{75875B7E-7B40-824D-A664-0E6B7F2E1A1C}" destId="{2E20079B-C6E3-2A48-9592-58210125C2AB}" srcOrd="0" destOrd="4" presId="urn:microsoft.com/office/officeart/2005/8/layout/list1"/>
    <dgm:cxn modelId="{AD34862A-D68A-4434-97EA-14250D7226E7}" srcId="{F8964432-EF8B-4E30-9DFB-F2EB2AE72046}" destId="{D128B15A-7EE9-4E1B-9A2A-6620C0DC2A8C}" srcOrd="1" destOrd="0" parTransId="{24044DE2-35C5-4FD9-B88A-DB7EC5830F7A}" sibTransId="{C98CA7E4-80B7-4056-8939-24FD6CD7BFB1}"/>
    <dgm:cxn modelId="{3AFA5D2C-251A-9D4B-B06D-39BBEDD04C5B}" type="presOf" srcId="{870A32C6-6F14-4E16-B7E7-1311801252EF}" destId="{2E20079B-C6E3-2A48-9592-58210125C2AB}" srcOrd="0" destOrd="8" presId="urn:microsoft.com/office/officeart/2005/8/layout/list1"/>
    <dgm:cxn modelId="{081D5E3A-B621-C943-AE19-E1E5FCAEA3B4}" type="presOf" srcId="{1CB9148E-6065-4AA9-BB65-21511522C0CA}" destId="{2E20079B-C6E3-2A48-9592-58210125C2AB}" srcOrd="0" destOrd="7" presId="urn:microsoft.com/office/officeart/2005/8/layout/list1"/>
    <dgm:cxn modelId="{CC95F44F-FCEB-FF4F-872D-63EF53DDA5C4}" type="presOf" srcId="{D128B15A-7EE9-4E1B-9A2A-6620C0DC2A8C}" destId="{2E20079B-C6E3-2A48-9592-58210125C2AB}" srcOrd="0" destOrd="2" presId="urn:microsoft.com/office/officeart/2005/8/layout/list1"/>
    <dgm:cxn modelId="{80EA0A51-411C-5D48-9919-27BAE1475899}" type="presOf" srcId="{F8964432-EF8B-4E30-9DFB-F2EB2AE72046}" destId="{2E20079B-C6E3-2A48-9592-58210125C2AB}" srcOrd="0" destOrd="0" presId="urn:microsoft.com/office/officeart/2005/8/layout/list1"/>
    <dgm:cxn modelId="{B78BC754-7EE3-7C4C-B175-B3969EDBA234}" type="presOf" srcId="{E58F6CD2-1F1A-4AF1-BD93-554028326DB4}" destId="{2E20079B-C6E3-2A48-9592-58210125C2AB}" srcOrd="0" destOrd="6" presId="urn:microsoft.com/office/officeart/2005/8/layout/list1"/>
    <dgm:cxn modelId="{189EA864-81BC-9D4B-8966-DE924CB92670}" type="presOf" srcId="{D9E444E9-7D5F-41B9-BE5A-2F2E3F3E6705}" destId="{2E20079B-C6E3-2A48-9592-58210125C2AB}" srcOrd="0" destOrd="5" presId="urn:microsoft.com/office/officeart/2005/8/layout/list1"/>
    <dgm:cxn modelId="{A7247B7D-15A7-A040-B01C-EF5C8D7FC680}" type="presOf" srcId="{359C5EED-E0B7-41F1-A0D1-F409FFEE47F6}" destId="{2E20079B-C6E3-2A48-9592-58210125C2AB}" srcOrd="0" destOrd="3" presId="urn:microsoft.com/office/officeart/2005/8/layout/list1"/>
    <dgm:cxn modelId="{154EA08E-D6D9-A140-A52F-945D9A782A03}" srcId="{F8964432-EF8B-4E30-9DFB-F2EB2AE72046}" destId="{75875B7E-7B40-824D-A664-0E6B7F2E1A1C}" srcOrd="3" destOrd="0" parTransId="{796850AE-C70D-6441-8A43-E153A0A67115}" sibTransId="{12D9E9D3-BD4D-D148-BC60-F077A78F5BC1}"/>
    <dgm:cxn modelId="{602C959F-64D1-45B0-AD29-6EC17920537E}" srcId="{F8964432-EF8B-4E30-9DFB-F2EB2AE72046}" destId="{3E5A942E-D720-4FE0-8BA3-2E3C192828C1}" srcOrd="0" destOrd="0" parTransId="{393C3496-DE81-4F15-81F8-9E2655B15D66}" sibTransId="{07D857CF-E1ED-42E6-B805-BC460CB64CD7}"/>
    <dgm:cxn modelId="{F9D4D7A5-20F2-42B4-9D46-7CBAFF1CF191}" srcId="{D9E444E9-7D5F-41B9-BE5A-2F2E3F3E6705}" destId="{E58F6CD2-1F1A-4AF1-BD93-554028326DB4}" srcOrd="0" destOrd="0" parTransId="{7153AFDB-BE7C-4C54-AD96-78C6A2E6E0C9}" sibTransId="{FBD9E11A-38E7-461A-92C1-06E9E34F28F0}"/>
    <dgm:cxn modelId="{251203AB-E1F9-4F79-9627-8DED882F3658}" srcId="{F2966ECF-4031-486E-95AE-AE444440D87C}" destId="{5553FCE4-1D00-4F49-A613-DF1AEE447AC7}" srcOrd="0" destOrd="0" parTransId="{CE425D8D-6B96-4A96-92CF-09BE03BAA451}" sibTransId="{85EF0BE7-A7CA-43CE-A8FF-F275779B8B47}"/>
    <dgm:cxn modelId="{240B5BAF-D0C0-4EFA-BFF3-B5AD1C212432}" srcId="{D9E444E9-7D5F-41B9-BE5A-2F2E3F3E6705}" destId="{870A32C6-6F14-4E16-B7E7-1311801252EF}" srcOrd="2" destOrd="0" parTransId="{F8522249-74A0-4E6A-B0B1-8709EA5AC462}" sibTransId="{E224A0FD-51CE-46D6-90C4-B12E1258AD25}"/>
    <dgm:cxn modelId="{89DD61B5-BD1A-6D4F-AA77-4D5FFCE29338}" type="presOf" srcId="{5553FCE4-1D00-4F49-A613-DF1AEE447AC7}" destId="{6ABDC2F4-359F-374F-8590-BEC5F3C469EE}" srcOrd="0" destOrd="0" presId="urn:microsoft.com/office/officeart/2005/8/layout/list1"/>
    <dgm:cxn modelId="{776F06C4-6E25-DC49-A33A-3FA52F58DA0D}" type="presOf" srcId="{F2966ECF-4031-486E-95AE-AE444440D87C}" destId="{6A60C109-296C-784F-97B6-E6319B1FCAA6}" srcOrd="0" destOrd="0" presId="urn:microsoft.com/office/officeart/2005/8/layout/list1"/>
    <dgm:cxn modelId="{86E351DD-CDDF-43B1-8542-E7B1B13FC89F}" srcId="{5553FCE4-1D00-4F49-A613-DF1AEE447AC7}" destId="{D9E444E9-7D5F-41B9-BE5A-2F2E3F3E6705}" srcOrd="1" destOrd="0" parTransId="{BC999029-79ED-4E31-BF1D-6122E7A101D2}" sibTransId="{129B1DB5-9B95-4769-981C-561FF0EEC897}"/>
    <dgm:cxn modelId="{676807E4-EA3F-714C-977C-81621BD907D0}" type="presOf" srcId="{5553FCE4-1D00-4F49-A613-DF1AEE447AC7}" destId="{01DF5736-CD59-9246-B229-0AC3650D250B}" srcOrd="1" destOrd="0" presId="urn:microsoft.com/office/officeart/2005/8/layout/list1"/>
    <dgm:cxn modelId="{B93CC1F5-A59F-49BA-8BEB-987EC0E47047}" srcId="{5553FCE4-1D00-4F49-A613-DF1AEE447AC7}" destId="{F8964432-EF8B-4E30-9DFB-F2EB2AE72046}" srcOrd="0" destOrd="0" parTransId="{A721B7B6-7ED4-4E44-8C24-1FFE9A1FE089}" sibTransId="{7679A700-93A9-4628-BA43-9729FFF122BA}"/>
    <dgm:cxn modelId="{B3041FF8-62EC-490E-A5D6-30E9DF71409A}" srcId="{F8964432-EF8B-4E30-9DFB-F2EB2AE72046}" destId="{359C5EED-E0B7-41F1-A0D1-F409FFEE47F6}" srcOrd="2" destOrd="0" parTransId="{5810FA37-B43E-43A8-92AF-C97292D7DD7E}" sibTransId="{ADAD18A1-C3D1-44C5-9C0B-7D4E03A43542}"/>
    <dgm:cxn modelId="{D3F64A26-CED4-B744-9D94-F59DB355829B}" type="presParOf" srcId="{6A60C109-296C-784F-97B6-E6319B1FCAA6}" destId="{6C7C0AA8-75C7-8941-A60B-DF934E0D5824}" srcOrd="0" destOrd="0" presId="urn:microsoft.com/office/officeart/2005/8/layout/list1"/>
    <dgm:cxn modelId="{3C331F3C-D7DC-E84B-9688-837B92F51D07}" type="presParOf" srcId="{6C7C0AA8-75C7-8941-A60B-DF934E0D5824}" destId="{6ABDC2F4-359F-374F-8590-BEC5F3C469EE}" srcOrd="0" destOrd="0" presId="urn:microsoft.com/office/officeart/2005/8/layout/list1"/>
    <dgm:cxn modelId="{B29B4AA7-78BE-5446-9833-E5845C663B32}" type="presParOf" srcId="{6C7C0AA8-75C7-8941-A60B-DF934E0D5824}" destId="{01DF5736-CD59-9246-B229-0AC3650D250B}" srcOrd="1" destOrd="0" presId="urn:microsoft.com/office/officeart/2005/8/layout/list1"/>
    <dgm:cxn modelId="{914253BA-64AB-6349-B821-55601DF5E9B8}" type="presParOf" srcId="{6A60C109-296C-784F-97B6-E6319B1FCAA6}" destId="{14ACAE3A-FEAF-4049-9248-593901011A11}" srcOrd="1" destOrd="0" presId="urn:microsoft.com/office/officeart/2005/8/layout/list1"/>
    <dgm:cxn modelId="{63ACD350-7441-244C-92B3-1AC007AAA8FD}" type="presParOf" srcId="{6A60C109-296C-784F-97B6-E6319B1FCAA6}" destId="{2E20079B-C6E3-2A48-9592-58210125C2AB}" srcOrd="2"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C8A4E5E-9805-4EDB-B7CD-4770E60B399E}"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A513FA3B-25D5-4648-8211-D8F559C54880}">
      <dgm:prSet/>
      <dgm:spPr/>
      <dgm:t>
        <a:bodyPr/>
        <a:lstStyle/>
        <a:p>
          <a:r>
            <a:rPr lang="en-US" b="1" dirty="0">
              <a:latin typeface="Times New Roman" panose="02020603050405020304" pitchFamily="18" charset="0"/>
              <a:cs typeface="Times New Roman" panose="02020603050405020304" pitchFamily="18" charset="0"/>
            </a:rPr>
            <a:t>75%</a:t>
          </a:r>
          <a:r>
            <a:rPr lang="en-US" dirty="0">
              <a:latin typeface="Times New Roman" panose="02020603050405020304" pitchFamily="18" charset="0"/>
              <a:cs typeface="Times New Roman" panose="02020603050405020304" pitchFamily="18" charset="0"/>
            </a:rPr>
            <a:t> of errors traced to internal gaps (tools, process, ownership)</a:t>
          </a:r>
        </a:p>
      </dgm:t>
    </dgm:pt>
    <dgm:pt modelId="{953A8F9B-934A-4378-BA6D-2005E36BD22F}" type="parTrans" cxnId="{3ADAE838-D30B-4F35-B7E9-E88D8A8E0255}">
      <dgm:prSet/>
      <dgm:spPr/>
      <dgm:t>
        <a:bodyPr/>
        <a:lstStyle/>
        <a:p>
          <a:endParaRPr lang="en-US"/>
        </a:p>
      </dgm:t>
    </dgm:pt>
    <dgm:pt modelId="{D0D4FBAB-4027-40EB-A39A-E608048E19CA}" type="sibTrans" cxnId="{3ADAE838-D30B-4F35-B7E9-E88D8A8E0255}">
      <dgm:prSet/>
      <dgm:spPr/>
      <dgm:t>
        <a:bodyPr/>
        <a:lstStyle/>
        <a:p>
          <a:endParaRPr lang="en-US"/>
        </a:p>
      </dgm:t>
    </dgm:pt>
    <dgm:pt modelId="{F8DCCC65-9D79-4152-9275-702F6CE703A0}">
      <dgm:prSet/>
      <dgm:spPr/>
      <dgm:t>
        <a:bodyPr/>
        <a:lstStyle/>
        <a:p>
          <a:r>
            <a:rPr lang="en-US" dirty="0">
              <a:latin typeface="Times New Roman" panose="02020603050405020304" pitchFamily="18" charset="0"/>
              <a:cs typeface="Times New Roman" panose="02020603050405020304" pitchFamily="18" charset="0"/>
            </a:rPr>
            <a:t>Revision errors linked to </a:t>
          </a:r>
          <a:r>
            <a:rPr lang="en-US" b="1" dirty="0">
              <a:latin typeface="Times New Roman" panose="02020603050405020304" pitchFamily="18" charset="0"/>
              <a:cs typeface="Times New Roman" panose="02020603050405020304" pitchFamily="18" charset="0"/>
            </a:rPr>
            <a:t>manual overrides &amp; outdated logs</a:t>
          </a:r>
          <a:endParaRPr lang="en-US" dirty="0">
            <a:latin typeface="Times New Roman" panose="02020603050405020304" pitchFamily="18" charset="0"/>
            <a:cs typeface="Times New Roman" panose="02020603050405020304" pitchFamily="18" charset="0"/>
          </a:endParaRPr>
        </a:p>
      </dgm:t>
    </dgm:pt>
    <dgm:pt modelId="{B4AC6F23-15E2-4234-9B89-C3FC07E16C96}" type="parTrans" cxnId="{5229C056-349E-4222-BB30-CBDF20E781A1}">
      <dgm:prSet/>
      <dgm:spPr/>
      <dgm:t>
        <a:bodyPr/>
        <a:lstStyle/>
        <a:p>
          <a:endParaRPr lang="en-US"/>
        </a:p>
      </dgm:t>
    </dgm:pt>
    <dgm:pt modelId="{D5F2C764-432D-466A-AE32-92D1AC0A0CCC}" type="sibTrans" cxnId="{5229C056-349E-4222-BB30-CBDF20E781A1}">
      <dgm:prSet/>
      <dgm:spPr/>
      <dgm:t>
        <a:bodyPr/>
        <a:lstStyle/>
        <a:p>
          <a:endParaRPr lang="en-US"/>
        </a:p>
      </dgm:t>
    </dgm:pt>
    <dgm:pt modelId="{FD432A28-09E6-4DF2-8FB7-CC7128B692EB}">
      <dgm:prSet/>
      <dgm:spPr/>
      <dgm:t>
        <a:bodyPr/>
        <a:lstStyle/>
        <a:p>
          <a:r>
            <a:rPr lang="en-US">
              <a:latin typeface="Times New Roman" panose="02020603050405020304" pitchFamily="18" charset="0"/>
              <a:cs typeface="Times New Roman" panose="02020603050405020304" pitchFamily="18" charset="0"/>
            </a:rPr>
            <a:t>Vendor mismatches from </a:t>
          </a:r>
          <a:r>
            <a:rPr lang="en-US" b="1">
              <a:latin typeface="Times New Roman" panose="02020603050405020304" pitchFamily="18" charset="0"/>
              <a:cs typeface="Times New Roman" panose="02020603050405020304" pitchFamily="18" charset="0"/>
            </a:rPr>
            <a:t>unsynced ERP–supplier systems</a:t>
          </a:r>
          <a:endParaRPr lang="en-US">
            <a:latin typeface="Times New Roman" panose="02020603050405020304" pitchFamily="18" charset="0"/>
            <a:cs typeface="Times New Roman" panose="02020603050405020304" pitchFamily="18" charset="0"/>
          </a:endParaRPr>
        </a:p>
      </dgm:t>
    </dgm:pt>
    <dgm:pt modelId="{92A8EF88-E12F-4B90-9786-FC6253B319E6}" type="parTrans" cxnId="{02D0036A-6F36-4CD9-A442-F9FF1A68486A}">
      <dgm:prSet/>
      <dgm:spPr/>
      <dgm:t>
        <a:bodyPr/>
        <a:lstStyle/>
        <a:p>
          <a:endParaRPr lang="en-US"/>
        </a:p>
      </dgm:t>
    </dgm:pt>
    <dgm:pt modelId="{1744AB9F-9900-414E-8CDF-FDAD2A939D69}" type="sibTrans" cxnId="{02D0036A-6F36-4CD9-A442-F9FF1A68486A}">
      <dgm:prSet/>
      <dgm:spPr/>
      <dgm:t>
        <a:bodyPr/>
        <a:lstStyle/>
        <a:p>
          <a:endParaRPr lang="en-US"/>
        </a:p>
      </dgm:t>
    </dgm:pt>
    <dgm:pt modelId="{3FFB7A57-1E0A-45BC-9DDF-7DC8E28D2386}">
      <dgm:prSet/>
      <dgm:spPr/>
      <dgm:t>
        <a:bodyPr/>
        <a:lstStyle/>
        <a:p>
          <a:r>
            <a:rPr lang="en-US">
              <a:latin typeface="Times New Roman" panose="02020603050405020304" pitchFamily="18" charset="0"/>
              <a:cs typeface="Times New Roman" panose="02020603050405020304" pitchFamily="18" charset="0"/>
            </a:rPr>
            <a:t>RCA confirmed by </a:t>
          </a:r>
          <a:r>
            <a:rPr lang="en-US" b="1">
              <a:latin typeface="Times New Roman" panose="02020603050405020304" pitchFamily="18" charset="0"/>
              <a:cs typeface="Times New Roman" panose="02020603050405020304" pitchFamily="18" charset="0"/>
            </a:rPr>
            <a:t>field tickets and Q2 audit data</a:t>
          </a:r>
          <a:endParaRPr lang="en-US">
            <a:latin typeface="Times New Roman" panose="02020603050405020304" pitchFamily="18" charset="0"/>
            <a:cs typeface="Times New Roman" panose="02020603050405020304" pitchFamily="18" charset="0"/>
          </a:endParaRPr>
        </a:p>
      </dgm:t>
    </dgm:pt>
    <dgm:pt modelId="{F368F102-1E50-445C-BE96-C132A3CC4488}" type="parTrans" cxnId="{4143805A-62A5-44E3-A115-00F24862C404}">
      <dgm:prSet/>
      <dgm:spPr/>
      <dgm:t>
        <a:bodyPr/>
        <a:lstStyle/>
        <a:p>
          <a:endParaRPr lang="en-US"/>
        </a:p>
      </dgm:t>
    </dgm:pt>
    <dgm:pt modelId="{0C20DB02-F8D2-443E-9A10-3ED1CCE8E664}" type="sibTrans" cxnId="{4143805A-62A5-44E3-A115-00F24862C404}">
      <dgm:prSet/>
      <dgm:spPr/>
      <dgm:t>
        <a:bodyPr/>
        <a:lstStyle/>
        <a:p>
          <a:endParaRPr lang="en-US"/>
        </a:p>
      </dgm:t>
    </dgm:pt>
    <dgm:pt modelId="{475BA345-3249-411D-9547-16054234BAAF}" type="pres">
      <dgm:prSet presAssocID="{FC8A4E5E-9805-4EDB-B7CD-4770E60B399E}" presName="root" presStyleCnt="0">
        <dgm:presLayoutVars>
          <dgm:dir/>
          <dgm:resizeHandles val="exact"/>
        </dgm:presLayoutVars>
      </dgm:prSet>
      <dgm:spPr/>
    </dgm:pt>
    <dgm:pt modelId="{F5021C35-C868-4E3F-B6FA-2D1E4ACF3341}" type="pres">
      <dgm:prSet presAssocID="{A513FA3B-25D5-4648-8211-D8F559C54880}" presName="compNode" presStyleCnt="0"/>
      <dgm:spPr/>
    </dgm:pt>
    <dgm:pt modelId="{ED2E35FD-5B68-4EAD-87D4-116DDCA4D787}" type="pres">
      <dgm:prSet presAssocID="{A513FA3B-25D5-4648-8211-D8F559C5488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524A706D-DB4E-4273-861F-A01F163B7F02}" type="pres">
      <dgm:prSet presAssocID="{A513FA3B-25D5-4648-8211-D8F559C54880}" presName="spaceRect" presStyleCnt="0"/>
      <dgm:spPr/>
    </dgm:pt>
    <dgm:pt modelId="{297C746A-A4FE-4A7E-BA5C-328C2C7D26AC}" type="pres">
      <dgm:prSet presAssocID="{A513FA3B-25D5-4648-8211-D8F559C54880}" presName="textRect" presStyleLbl="revTx" presStyleIdx="0" presStyleCnt="4">
        <dgm:presLayoutVars>
          <dgm:chMax val="1"/>
          <dgm:chPref val="1"/>
        </dgm:presLayoutVars>
      </dgm:prSet>
      <dgm:spPr/>
    </dgm:pt>
    <dgm:pt modelId="{B8DE5956-D23C-4CCE-B811-76F2F6386BFD}" type="pres">
      <dgm:prSet presAssocID="{D0D4FBAB-4027-40EB-A39A-E608048E19CA}" presName="sibTrans" presStyleCnt="0"/>
      <dgm:spPr/>
    </dgm:pt>
    <dgm:pt modelId="{54192A54-6A35-42CB-954B-3616F53815C3}" type="pres">
      <dgm:prSet presAssocID="{F8DCCC65-9D79-4152-9275-702F6CE703A0}" presName="compNode" presStyleCnt="0"/>
      <dgm:spPr/>
    </dgm:pt>
    <dgm:pt modelId="{1286F53C-30F7-4F33-BC00-0011EF1B38F4}" type="pres">
      <dgm:prSet presAssocID="{F8DCCC65-9D79-4152-9275-702F6CE703A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Folder"/>
        </a:ext>
      </dgm:extLst>
    </dgm:pt>
    <dgm:pt modelId="{5EB2D002-F239-4DD1-B012-13D9301E6686}" type="pres">
      <dgm:prSet presAssocID="{F8DCCC65-9D79-4152-9275-702F6CE703A0}" presName="spaceRect" presStyleCnt="0"/>
      <dgm:spPr/>
    </dgm:pt>
    <dgm:pt modelId="{41FD759D-17C3-40D7-A0FC-B83AFD3B2A22}" type="pres">
      <dgm:prSet presAssocID="{F8DCCC65-9D79-4152-9275-702F6CE703A0}" presName="textRect" presStyleLbl="revTx" presStyleIdx="1" presStyleCnt="4">
        <dgm:presLayoutVars>
          <dgm:chMax val="1"/>
          <dgm:chPref val="1"/>
        </dgm:presLayoutVars>
      </dgm:prSet>
      <dgm:spPr/>
    </dgm:pt>
    <dgm:pt modelId="{25165539-3E5F-42A6-8A4B-B37161014B3D}" type="pres">
      <dgm:prSet presAssocID="{D5F2C764-432D-466A-AE32-92D1AC0A0CCC}" presName="sibTrans" presStyleCnt="0"/>
      <dgm:spPr/>
    </dgm:pt>
    <dgm:pt modelId="{C831446D-4F52-4350-802A-D5D02BA892B6}" type="pres">
      <dgm:prSet presAssocID="{FD432A28-09E6-4DF2-8FB7-CC7128B692EB}" presName="compNode" presStyleCnt="0"/>
      <dgm:spPr/>
    </dgm:pt>
    <dgm:pt modelId="{8BFD939E-E25C-4E6C-8D27-0F7A496AF771}" type="pres">
      <dgm:prSet presAssocID="{FD432A28-09E6-4DF2-8FB7-CC7128B692E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B9996EE8-481C-457E-9D97-DFB025AF4F2E}" type="pres">
      <dgm:prSet presAssocID="{FD432A28-09E6-4DF2-8FB7-CC7128B692EB}" presName="spaceRect" presStyleCnt="0"/>
      <dgm:spPr/>
    </dgm:pt>
    <dgm:pt modelId="{B0E7798D-C7E9-4492-A2EF-102ADFFBB1A1}" type="pres">
      <dgm:prSet presAssocID="{FD432A28-09E6-4DF2-8FB7-CC7128B692EB}" presName="textRect" presStyleLbl="revTx" presStyleIdx="2" presStyleCnt="4">
        <dgm:presLayoutVars>
          <dgm:chMax val="1"/>
          <dgm:chPref val="1"/>
        </dgm:presLayoutVars>
      </dgm:prSet>
      <dgm:spPr/>
    </dgm:pt>
    <dgm:pt modelId="{8CC35FED-BD0A-4A0D-9F9A-0AB9F3E7DAC6}" type="pres">
      <dgm:prSet presAssocID="{1744AB9F-9900-414E-8CDF-FDAD2A939D69}" presName="sibTrans" presStyleCnt="0"/>
      <dgm:spPr/>
    </dgm:pt>
    <dgm:pt modelId="{E145D1C7-583B-456C-8C50-E290EF9DA826}" type="pres">
      <dgm:prSet presAssocID="{3FFB7A57-1E0A-45BC-9DDF-7DC8E28D2386}" presName="compNode" presStyleCnt="0"/>
      <dgm:spPr/>
    </dgm:pt>
    <dgm:pt modelId="{6F7E99B7-5D39-4C14-98CC-DD322191E232}" type="pres">
      <dgm:prSet presAssocID="{3FFB7A57-1E0A-45BC-9DDF-7DC8E28D238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 List"/>
        </a:ext>
      </dgm:extLst>
    </dgm:pt>
    <dgm:pt modelId="{90374006-9E88-4C1B-99CC-766A3369CA2C}" type="pres">
      <dgm:prSet presAssocID="{3FFB7A57-1E0A-45BC-9DDF-7DC8E28D2386}" presName="spaceRect" presStyleCnt="0"/>
      <dgm:spPr/>
    </dgm:pt>
    <dgm:pt modelId="{6AC73F34-6575-44D2-BC6F-FE16279E1502}" type="pres">
      <dgm:prSet presAssocID="{3FFB7A57-1E0A-45BC-9DDF-7DC8E28D2386}" presName="textRect" presStyleLbl="revTx" presStyleIdx="3" presStyleCnt="4">
        <dgm:presLayoutVars>
          <dgm:chMax val="1"/>
          <dgm:chPref val="1"/>
        </dgm:presLayoutVars>
      </dgm:prSet>
      <dgm:spPr/>
    </dgm:pt>
  </dgm:ptLst>
  <dgm:cxnLst>
    <dgm:cxn modelId="{26132D13-06C3-4AD6-97D1-6FDDD543FD2E}" type="presOf" srcId="{3FFB7A57-1E0A-45BC-9DDF-7DC8E28D2386}" destId="{6AC73F34-6575-44D2-BC6F-FE16279E1502}" srcOrd="0" destOrd="0" presId="urn:microsoft.com/office/officeart/2018/2/layout/IconLabelList"/>
    <dgm:cxn modelId="{3ADAE838-D30B-4F35-B7E9-E88D8A8E0255}" srcId="{FC8A4E5E-9805-4EDB-B7CD-4770E60B399E}" destId="{A513FA3B-25D5-4648-8211-D8F559C54880}" srcOrd="0" destOrd="0" parTransId="{953A8F9B-934A-4378-BA6D-2005E36BD22F}" sibTransId="{D0D4FBAB-4027-40EB-A39A-E608048E19CA}"/>
    <dgm:cxn modelId="{5229C056-349E-4222-BB30-CBDF20E781A1}" srcId="{FC8A4E5E-9805-4EDB-B7CD-4770E60B399E}" destId="{F8DCCC65-9D79-4152-9275-702F6CE703A0}" srcOrd="1" destOrd="0" parTransId="{B4AC6F23-15E2-4234-9B89-C3FC07E16C96}" sibTransId="{D5F2C764-432D-466A-AE32-92D1AC0A0CCC}"/>
    <dgm:cxn modelId="{B66E1A5A-2126-485C-9F5D-2EE24983902E}" type="presOf" srcId="{A513FA3B-25D5-4648-8211-D8F559C54880}" destId="{297C746A-A4FE-4A7E-BA5C-328C2C7D26AC}" srcOrd="0" destOrd="0" presId="urn:microsoft.com/office/officeart/2018/2/layout/IconLabelList"/>
    <dgm:cxn modelId="{4143805A-62A5-44E3-A115-00F24862C404}" srcId="{FC8A4E5E-9805-4EDB-B7CD-4770E60B399E}" destId="{3FFB7A57-1E0A-45BC-9DDF-7DC8E28D2386}" srcOrd="3" destOrd="0" parTransId="{F368F102-1E50-445C-BE96-C132A3CC4488}" sibTransId="{0C20DB02-F8D2-443E-9A10-3ED1CCE8E664}"/>
    <dgm:cxn modelId="{02D0036A-6F36-4CD9-A442-F9FF1A68486A}" srcId="{FC8A4E5E-9805-4EDB-B7CD-4770E60B399E}" destId="{FD432A28-09E6-4DF2-8FB7-CC7128B692EB}" srcOrd="2" destOrd="0" parTransId="{92A8EF88-E12F-4B90-9786-FC6253B319E6}" sibTransId="{1744AB9F-9900-414E-8CDF-FDAD2A939D69}"/>
    <dgm:cxn modelId="{55AB1CAA-EC53-436D-89C9-4AD8FDD7E991}" type="presOf" srcId="{FD432A28-09E6-4DF2-8FB7-CC7128B692EB}" destId="{B0E7798D-C7E9-4492-A2EF-102ADFFBB1A1}" srcOrd="0" destOrd="0" presId="urn:microsoft.com/office/officeart/2018/2/layout/IconLabelList"/>
    <dgm:cxn modelId="{A1D12ABA-7191-4DBE-9662-74715D4AC787}" type="presOf" srcId="{F8DCCC65-9D79-4152-9275-702F6CE703A0}" destId="{41FD759D-17C3-40D7-A0FC-B83AFD3B2A22}" srcOrd="0" destOrd="0" presId="urn:microsoft.com/office/officeart/2018/2/layout/IconLabelList"/>
    <dgm:cxn modelId="{021324D1-4614-4F93-A4CD-2AAE14520F07}" type="presOf" srcId="{FC8A4E5E-9805-4EDB-B7CD-4770E60B399E}" destId="{475BA345-3249-411D-9547-16054234BAAF}" srcOrd="0" destOrd="0" presId="urn:microsoft.com/office/officeart/2018/2/layout/IconLabelList"/>
    <dgm:cxn modelId="{3C847E5C-E119-4183-9B27-3942DE42A243}" type="presParOf" srcId="{475BA345-3249-411D-9547-16054234BAAF}" destId="{F5021C35-C868-4E3F-B6FA-2D1E4ACF3341}" srcOrd="0" destOrd="0" presId="urn:microsoft.com/office/officeart/2018/2/layout/IconLabelList"/>
    <dgm:cxn modelId="{EB4FA8F0-576F-4A2A-9DE5-838F3E6E9B5D}" type="presParOf" srcId="{F5021C35-C868-4E3F-B6FA-2D1E4ACF3341}" destId="{ED2E35FD-5B68-4EAD-87D4-116DDCA4D787}" srcOrd="0" destOrd="0" presId="urn:microsoft.com/office/officeart/2018/2/layout/IconLabelList"/>
    <dgm:cxn modelId="{58CAF699-B159-41CD-9C8D-09D091D0AA13}" type="presParOf" srcId="{F5021C35-C868-4E3F-B6FA-2D1E4ACF3341}" destId="{524A706D-DB4E-4273-861F-A01F163B7F02}" srcOrd="1" destOrd="0" presId="urn:microsoft.com/office/officeart/2018/2/layout/IconLabelList"/>
    <dgm:cxn modelId="{0D204D36-272D-4121-9FC7-720601EF7EDC}" type="presParOf" srcId="{F5021C35-C868-4E3F-B6FA-2D1E4ACF3341}" destId="{297C746A-A4FE-4A7E-BA5C-328C2C7D26AC}" srcOrd="2" destOrd="0" presId="urn:microsoft.com/office/officeart/2018/2/layout/IconLabelList"/>
    <dgm:cxn modelId="{80071047-CD88-48C1-BD2A-AE08A9580828}" type="presParOf" srcId="{475BA345-3249-411D-9547-16054234BAAF}" destId="{B8DE5956-D23C-4CCE-B811-76F2F6386BFD}" srcOrd="1" destOrd="0" presId="urn:microsoft.com/office/officeart/2018/2/layout/IconLabelList"/>
    <dgm:cxn modelId="{5E24C531-36B2-4E50-B9F1-D5874C0F1F68}" type="presParOf" srcId="{475BA345-3249-411D-9547-16054234BAAF}" destId="{54192A54-6A35-42CB-954B-3616F53815C3}" srcOrd="2" destOrd="0" presId="urn:microsoft.com/office/officeart/2018/2/layout/IconLabelList"/>
    <dgm:cxn modelId="{D3E836D6-47AB-4D08-945E-1C5A91CDF880}" type="presParOf" srcId="{54192A54-6A35-42CB-954B-3616F53815C3}" destId="{1286F53C-30F7-4F33-BC00-0011EF1B38F4}" srcOrd="0" destOrd="0" presId="urn:microsoft.com/office/officeart/2018/2/layout/IconLabelList"/>
    <dgm:cxn modelId="{EEE09358-AC70-4219-BF09-19D7E3FB6A28}" type="presParOf" srcId="{54192A54-6A35-42CB-954B-3616F53815C3}" destId="{5EB2D002-F239-4DD1-B012-13D9301E6686}" srcOrd="1" destOrd="0" presId="urn:microsoft.com/office/officeart/2018/2/layout/IconLabelList"/>
    <dgm:cxn modelId="{D364F231-1DCB-49AE-89F0-5C6A03C03356}" type="presParOf" srcId="{54192A54-6A35-42CB-954B-3616F53815C3}" destId="{41FD759D-17C3-40D7-A0FC-B83AFD3B2A22}" srcOrd="2" destOrd="0" presId="urn:microsoft.com/office/officeart/2018/2/layout/IconLabelList"/>
    <dgm:cxn modelId="{A7CA6184-DD28-4875-BFC1-C5A4614715F5}" type="presParOf" srcId="{475BA345-3249-411D-9547-16054234BAAF}" destId="{25165539-3E5F-42A6-8A4B-B37161014B3D}" srcOrd="3" destOrd="0" presId="urn:microsoft.com/office/officeart/2018/2/layout/IconLabelList"/>
    <dgm:cxn modelId="{0AE8E62F-D777-4F52-A357-9C21F2AC3D25}" type="presParOf" srcId="{475BA345-3249-411D-9547-16054234BAAF}" destId="{C831446D-4F52-4350-802A-D5D02BA892B6}" srcOrd="4" destOrd="0" presId="urn:microsoft.com/office/officeart/2018/2/layout/IconLabelList"/>
    <dgm:cxn modelId="{6E52B4C0-4997-4B60-AF50-DB301C76CAFD}" type="presParOf" srcId="{C831446D-4F52-4350-802A-D5D02BA892B6}" destId="{8BFD939E-E25C-4E6C-8D27-0F7A496AF771}" srcOrd="0" destOrd="0" presId="urn:microsoft.com/office/officeart/2018/2/layout/IconLabelList"/>
    <dgm:cxn modelId="{74560726-F9DD-49E2-BB25-7D810CB171E2}" type="presParOf" srcId="{C831446D-4F52-4350-802A-D5D02BA892B6}" destId="{B9996EE8-481C-457E-9D97-DFB025AF4F2E}" srcOrd="1" destOrd="0" presId="urn:microsoft.com/office/officeart/2018/2/layout/IconLabelList"/>
    <dgm:cxn modelId="{6702CFF0-73BA-4BEC-8D84-E5DB3F808452}" type="presParOf" srcId="{C831446D-4F52-4350-802A-D5D02BA892B6}" destId="{B0E7798D-C7E9-4492-A2EF-102ADFFBB1A1}" srcOrd="2" destOrd="0" presId="urn:microsoft.com/office/officeart/2018/2/layout/IconLabelList"/>
    <dgm:cxn modelId="{03878C82-BA9A-4F4E-B63D-80F530DF12E9}" type="presParOf" srcId="{475BA345-3249-411D-9547-16054234BAAF}" destId="{8CC35FED-BD0A-4A0D-9F9A-0AB9F3E7DAC6}" srcOrd="5" destOrd="0" presId="urn:microsoft.com/office/officeart/2018/2/layout/IconLabelList"/>
    <dgm:cxn modelId="{95C97851-C0E8-4C3D-B8EF-82D06839C8A1}" type="presParOf" srcId="{475BA345-3249-411D-9547-16054234BAAF}" destId="{E145D1C7-583B-456C-8C50-E290EF9DA826}" srcOrd="6" destOrd="0" presId="urn:microsoft.com/office/officeart/2018/2/layout/IconLabelList"/>
    <dgm:cxn modelId="{540FA6F9-6499-4E25-BA0A-47065950837D}" type="presParOf" srcId="{E145D1C7-583B-456C-8C50-E290EF9DA826}" destId="{6F7E99B7-5D39-4C14-98CC-DD322191E232}" srcOrd="0" destOrd="0" presId="urn:microsoft.com/office/officeart/2018/2/layout/IconLabelList"/>
    <dgm:cxn modelId="{166BFC38-63AB-4A62-B6FF-7DDDDDF9F31A}" type="presParOf" srcId="{E145D1C7-583B-456C-8C50-E290EF9DA826}" destId="{90374006-9E88-4C1B-99CC-766A3369CA2C}" srcOrd="1" destOrd="0" presId="urn:microsoft.com/office/officeart/2018/2/layout/IconLabelList"/>
    <dgm:cxn modelId="{41A7C4BF-3189-405B-8999-1559E89C627A}" type="presParOf" srcId="{E145D1C7-583B-456C-8C50-E290EF9DA826}" destId="{6AC73F34-6575-44D2-BC6F-FE16279E1502}"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5E72419-7A88-41EC-97A1-2586854688C2}"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2B38428-BEC0-4734-8E48-91ABEF339AA0}">
      <dgm:prSet/>
      <dgm:spPr/>
      <dgm:t>
        <a:bodyPr/>
        <a:lstStyle/>
        <a:p>
          <a:r>
            <a:rPr lang="en-US" b="1"/>
            <a:t>Challenge Identified</a:t>
          </a:r>
          <a:br>
            <a:rPr lang="en-US"/>
          </a:br>
          <a:r>
            <a:rPr lang="en-US"/>
            <a:t>BOM mismatches led to downtime, service delays, and operational inefficiencies.</a:t>
          </a:r>
        </a:p>
      </dgm:t>
    </dgm:pt>
    <dgm:pt modelId="{EB9AEF19-241C-49A3-A10F-89C8B74F4E09}" type="parTrans" cxnId="{0E46F9C1-B30E-4DE9-9A49-98071CD24D35}">
      <dgm:prSet/>
      <dgm:spPr/>
      <dgm:t>
        <a:bodyPr/>
        <a:lstStyle/>
        <a:p>
          <a:endParaRPr lang="en-US"/>
        </a:p>
      </dgm:t>
    </dgm:pt>
    <dgm:pt modelId="{6BAD2852-5AC9-4BCB-B8AC-9F3B2948EC36}" type="sibTrans" cxnId="{0E46F9C1-B30E-4DE9-9A49-98071CD24D35}">
      <dgm:prSet/>
      <dgm:spPr/>
      <dgm:t>
        <a:bodyPr/>
        <a:lstStyle/>
        <a:p>
          <a:endParaRPr lang="en-US"/>
        </a:p>
      </dgm:t>
    </dgm:pt>
    <dgm:pt modelId="{357BB620-8913-4BDD-AC55-E8AAA40A7975}">
      <dgm:prSet/>
      <dgm:spPr/>
      <dgm:t>
        <a:bodyPr/>
        <a:lstStyle/>
        <a:p>
          <a:r>
            <a:rPr lang="en-US" b="1"/>
            <a:t>Approach Taken</a:t>
          </a:r>
          <a:br>
            <a:rPr lang="en-US"/>
          </a:br>
          <a:r>
            <a:rPr lang="en-US"/>
            <a:t>Used structured problem-solving (DMAIC) to pinpoint, measure, and eliminate root causes.</a:t>
          </a:r>
        </a:p>
      </dgm:t>
    </dgm:pt>
    <dgm:pt modelId="{1C548C9C-317F-4B4F-B4AC-14FED3BB465D}" type="parTrans" cxnId="{816B97C1-7688-40EB-88EA-36782897D1DC}">
      <dgm:prSet/>
      <dgm:spPr/>
      <dgm:t>
        <a:bodyPr/>
        <a:lstStyle/>
        <a:p>
          <a:endParaRPr lang="en-US"/>
        </a:p>
      </dgm:t>
    </dgm:pt>
    <dgm:pt modelId="{E517F237-3F2A-446F-8C73-DDCFCF22FA96}" type="sibTrans" cxnId="{816B97C1-7688-40EB-88EA-36782897D1DC}">
      <dgm:prSet/>
      <dgm:spPr/>
      <dgm:t>
        <a:bodyPr/>
        <a:lstStyle/>
        <a:p>
          <a:endParaRPr lang="en-US"/>
        </a:p>
      </dgm:t>
    </dgm:pt>
    <dgm:pt modelId="{F61067B8-FFF8-473B-87AD-87A2090545F5}">
      <dgm:prSet/>
      <dgm:spPr/>
      <dgm:t>
        <a:bodyPr/>
        <a:lstStyle/>
        <a:p>
          <a:r>
            <a:rPr lang="en-US" b="1"/>
            <a:t>Actions Delivered</a:t>
          </a:r>
          <a:br>
            <a:rPr lang="en-US"/>
          </a:br>
          <a:r>
            <a:rPr lang="en-US"/>
            <a:t>Streamlined BOM structuring, enhanced PLM–ERP alignment, and introduced exception-driven controls.</a:t>
          </a:r>
        </a:p>
      </dgm:t>
    </dgm:pt>
    <dgm:pt modelId="{D1579E7D-D460-4BB7-B60E-70E970DF2225}" type="parTrans" cxnId="{0B396D5F-F6B0-4E2C-9629-7192497D8028}">
      <dgm:prSet/>
      <dgm:spPr/>
      <dgm:t>
        <a:bodyPr/>
        <a:lstStyle/>
        <a:p>
          <a:endParaRPr lang="en-US"/>
        </a:p>
      </dgm:t>
    </dgm:pt>
    <dgm:pt modelId="{5E3063CF-6B91-4FC4-9EF0-8BAD4EA8DB12}" type="sibTrans" cxnId="{0B396D5F-F6B0-4E2C-9629-7192497D8028}">
      <dgm:prSet/>
      <dgm:spPr/>
      <dgm:t>
        <a:bodyPr/>
        <a:lstStyle/>
        <a:p>
          <a:endParaRPr lang="en-US"/>
        </a:p>
      </dgm:t>
    </dgm:pt>
    <dgm:pt modelId="{62D1924C-BAA4-4D8C-AD71-388728DF77D7}">
      <dgm:prSet/>
      <dgm:spPr/>
      <dgm:t>
        <a:bodyPr/>
        <a:lstStyle/>
        <a:p>
          <a:r>
            <a:rPr lang="en-US" b="1"/>
            <a:t>Outcomes Achieved</a:t>
          </a:r>
          <a:endParaRPr lang="en-US"/>
        </a:p>
      </dgm:t>
    </dgm:pt>
    <dgm:pt modelId="{BB8E0ABF-FDC7-42BB-BFA4-9F7867199131}" type="parTrans" cxnId="{99DDC824-8855-4E52-B1D1-C774BBC61C42}">
      <dgm:prSet/>
      <dgm:spPr/>
      <dgm:t>
        <a:bodyPr/>
        <a:lstStyle/>
        <a:p>
          <a:endParaRPr lang="en-US"/>
        </a:p>
      </dgm:t>
    </dgm:pt>
    <dgm:pt modelId="{F7E3F297-0A83-4101-A6EF-BFCF962E1C9E}" type="sibTrans" cxnId="{99DDC824-8855-4E52-B1D1-C774BBC61C42}">
      <dgm:prSet/>
      <dgm:spPr/>
      <dgm:t>
        <a:bodyPr/>
        <a:lstStyle/>
        <a:p>
          <a:endParaRPr lang="en-US"/>
        </a:p>
      </dgm:t>
    </dgm:pt>
    <dgm:pt modelId="{E8850485-477C-4A91-9140-A5593364E03A}">
      <dgm:prSet/>
      <dgm:spPr/>
      <dgm:t>
        <a:bodyPr/>
        <a:lstStyle/>
        <a:p>
          <a:r>
            <a:rPr lang="en-US"/>
            <a:t>BOM accuracy: </a:t>
          </a:r>
          <a:r>
            <a:rPr lang="en-US" b="1"/>
            <a:t>&gt;99%</a:t>
          </a:r>
          <a:endParaRPr lang="en-US"/>
        </a:p>
      </dgm:t>
    </dgm:pt>
    <dgm:pt modelId="{6238BA06-B6FA-4573-B1D4-F8375D113252}" type="parTrans" cxnId="{5A171A89-5A0E-494F-BD6F-8D619AB67AAC}">
      <dgm:prSet/>
      <dgm:spPr/>
      <dgm:t>
        <a:bodyPr/>
        <a:lstStyle/>
        <a:p>
          <a:endParaRPr lang="en-US"/>
        </a:p>
      </dgm:t>
    </dgm:pt>
    <dgm:pt modelId="{5FA51D57-7508-47D5-9634-8274330BD5ED}" type="sibTrans" cxnId="{5A171A89-5A0E-494F-BD6F-8D619AB67AAC}">
      <dgm:prSet/>
      <dgm:spPr/>
      <dgm:t>
        <a:bodyPr/>
        <a:lstStyle/>
        <a:p>
          <a:endParaRPr lang="en-US"/>
        </a:p>
      </dgm:t>
    </dgm:pt>
    <dgm:pt modelId="{33CCBE72-60F1-4C5F-9B55-3D0E73DB286F}">
      <dgm:prSet/>
      <dgm:spPr/>
      <dgm:t>
        <a:bodyPr/>
        <a:lstStyle/>
        <a:p>
          <a:r>
            <a:rPr lang="en-US"/>
            <a:t>Structural errors: </a:t>
          </a:r>
          <a:r>
            <a:rPr lang="en-US" b="1"/>
            <a:t>↓ 60%</a:t>
          </a:r>
          <a:endParaRPr lang="en-US"/>
        </a:p>
      </dgm:t>
    </dgm:pt>
    <dgm:pt modelId="{3884AAC5-E430-4F0B-BF89-98AE92D7244C}" type="parTrans" cxnId="{E4D61037-37A3-40BD-94C9-F5E171C02EBA}">
      <dgm:prSet/>
      <dgm:spPr/>
      <dgm:t>
        <a:bodyPr/>
        <a:lstStyle/>
        <a:p>
          <a:endParaRPr lang="en-US"/>
        </a:p>
      </dgm:t>
    </dgm:pt>
    <dgm:pt modelId="{D722BFA6-DA3B-4E5F-833C-F78F10BF085B}" type="sibTrans" cxnId="{E4D61037-37A3-40BD-94C9-F5E171C02EBA}">
      <dgm:prSet/>
      <dgm:spPr/>
      <dgm:t>
        <a:bodyPr/>
        <a:lstStyle/>
        <a:p>
          <a:endParaRPr lang="en-US"/>
        </a:p>
      </dgm:t>
    </dgm:pt>
    <dgm:pt modelId="{027576AB-14F1-41E3-9AE0-953B9747B1A3}">
      <dgm:prSet/>
      <dgm:spPr/>
      <dgm:t>
        <a:bodyPr/>
        <a:lstStyle/>
        <a:p>
          <a:r>
            <a:rPr lang="en-US"/>
            <a:t>Service downtime: </a:t>
          </a:r>
          <a:r>
            <a:rPr lang="en-US" b="1"/>
            <a:t>↓ 30%</a:t>
          </a:r>
          <a:endParaRPr lang="en-US"/>
        </a:p>
      </dgm:t>
    </dgm:pt>
    <dgm:pt modelId="{EF7D2E84-960E-4079-B17B-98715F42A568}" type="parTrans" cxnId="{95BC01BE-EED8-41E7-B4A6-81097B7BA022}">
      <dgm:prSet/>
      <dgm:spPr/>
      <dgm:t>
        <a:bodyPr/>
        <a:lstStyle/>
        <a:p>
          <a:endParaRPr lang="en-US"/>
        </a:p>
      </dgm:t>
    </dgm:pt>
    <dgm:pt modelId="{A9928D2B-F998-4F81-AC06-B98A72025183}" type="sibTrans" cxnId="{95BC01BE-EED8-41E7-B4A6-81097B7BA022}">
      <dgm:prSet/>
      <dgm:spPr/>
      <dgm:t>
        <a:bodyPr/>
        <a:lstStyle/>
        <a:p>
          <a:endParaRPr lang="en-US"/>
        </a:p>
      </dgm:t>
    </dgm:pt>
    <dgm:pt modelId="{98716078-DFED-4ED0-9020-FD485515439F}">
      <dgm:prSet/>
      <dgm:spPr/>
      <dgm:t>
        <a:bodyPr/>
        <a:lstStyle/>
        <a:p>
          <a:r>
            <a:rPr lang="en-US"/>
            <a:t>ECR cycle time: </a:t>
          </a:r>
          <a:r>
            <a:rPr lang="en-US" b="1"/>
            <a:t>↓ 28%</a:t>
          </a:r>
          <a:endParaRPr lang="en-US"/>
        </a:p>
      </dgm:t>
    </dgm:pt>
    <dgm:pt modelId="{54AC6F23-04B8-4F39-841D-D86BFCDD3167}" type="parTrans" cxnId="{83994416-D110-4D81-B3A5-8D019C9FF5BD}">
      <dgm:prSet/>
      <dgm:spPr/>
      <dgm:t>
        <a:bodyPr/>
        <a:lstStyle/>
        <a:p>
          <a:endParaRPr lang="en-US"/>
        </a:p>
      </dgm:t>
    </dgm:pt>
    <dgm:pt modelId="{BA11A0AB-0399-4BDF-B1A5-3D5CE79A6678}" type="sibTrans" cxnId="{83994416-D110-4D81-B3A5-8D019C9FF5BD}">
      <dgm:prSet/>
      <dgm:spPr/>
      <dgm:t>
        <a:bodyPr/>
        <a:lstStyle/>
        <a:p>
          <a:endParaRPr lang="en-US"/>
        </a:p>
      </dgm:t>
    </dgm:pt>
    <dgm:pt modelId="{DA04360C-01F3-43FE-B204-F97144FD64C2}" type="pres">
      <dgm:prSet presAssocID="{15E72419-7A88-41EC-97A1-2586854688C2}" presName="root" presStyleCnt="0">
        <dgm:presLayoutVars>
          <dgm:dir/>
          <dgm:resizeHandles val="exact"/>
        </dgm:presLayoutVars>
      </dgm:prSet>
      <dgm:spPr/>
    </dgm:pt>
    <dgm:pt modelId="{9F9889A5-CEDC-4416-ABBA-5996A355FE4E}" type="pres">
      <dgm:prSet presAssocID="{A2B38428-BEC0-4734-8E48-91ABEF339AA0}" presName="compNode" presStyleCnt="0"/>
      <dgm:spPr/>
    </dgm:pt>
    <dgm:pt modelId="{F38B901F-2DB5-4571-BC77-D640789E60FB}" type="pres">
      <dgm:prSet presAssocID="{A2B38428-BEC0-4734-8E48-91ABEF339AA0}"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2E10D5CB-4902-4E0B-9651-F2713E34510D}" type="pres">
      <dgm:prSet presAssocID="{A2B38428-BEC0-4734-8E48-91ABEF339AA0}" presName="spaceRect" presStyleCnt="0"/>
      <dgm:spPr/>
    </dgm:pt>
    <dgm:pt modelId="{A3B7D88E-9CF3-448D-B15A-0319758B7251}" type="pres">
      <dgm:prSet presAssocID="{A2B38428-BEC0-4734-8E48-91ABEF339AA0}" presName="textRect" presStyleLbl="revTx" presStyleIdx="0" presStyleCnt="8">
        <dgm:presLayoutVars>
          <dgm:chMax val="1"/>
          <dgm:chPref val="1"/>
        </dgm:presLayoutVars>
      </dgm:prSet>
      <dgm:spPr/>
    </dgm:pt>
    <dgm:pt modelId="{6DCA8E79-B8B0-407D-929C-BE767DAF527E}" type="pres">
      <dgm:prSet presAssocID="{6BAD2852-5AC9-4BCB-B8AC-9F3B2948EC36}" presName="sibTrans" presStyleCnt="0"/>
      <dgm:spPr/>
    </dgm:pt>
    <dgm:pt modelId="{48E4B40B-3252-4842-BED8-E24EB28A2887}" type="pres">
      <dgm:prSet presAssocID="{357BB620-8913-4BDD-AC55-E8AAA40A7975}" presName="compNode" presStyleCnt="0"/>
      <dgm:spPr/>
    </dgm:pt>
    <dgm:pt modelId="{F88BE60D-C270-460C-95C0-8C1324266366}" type="pres">
      <dgm:prSet presAssocID="{357BB620-8913-4BDD-AC55-E8AAA40A7975}"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uzzle"/>
        </a:ext>
      </dgm:extLst>
    </dgm:pt>
    <dgm:pt modelId="{0594A1D8-5A43-451C-BC56-2345FDCB3475}" type="pres">
      <dgm:prSet presAssocID="{357BB620-8913-4BDD-AC55-E8AAA40A7975}" presName="spaceRect" presStyleCnt="0"/>
      <dgm:spPr/>
    </dgm:pt>
    <dgm:pt modelId="{6C0ABBC2-E467-422E-8249-20CEDE4403FD}" type="pres">
      <dgm:prSet presAssocID="{357BB620-8913-4BDD-AC55-E8AAA40A7975}" presName="textRect" presStyleLbl="revTx" presStyleIdx="1" presStyleCnt="8">
        <dgm:presLayoutVars>
          <dgm:chMax val="1"/>
          <dgm:chPref val="1"/>
        </dgm:presLayoutVars>
      </dgm:prSet>
      <dgm:spPr/>
    </dgm:pt>
    <dgm:pt modelId="{F0F4D7C9-8F4D-4CBB-AA79-6123DD68EC0D}" type="pres">
      <dgm:prSet presAssocID="{E517F237-3F2A-446F-8C73-DDCFCF22FA96}" presName="sibTrans" presStyleCnt="0"/>
      <dgm:spPr/>
    </dgm:pt>
    <dgm:pt modelId="{52F97D0B-CEF9-4DD1-9AD2-A7947D93BB3D}" type="pres">
      <dgm:prSet presAssocID="{F61067B8-FFF8-473B-87AD-87A2090545F5}" presName="compNode" presStyleCnt="0"/>
      <dgm:spPr/>
    </dgm:pt>
    <dgm:pt modelId="{66FBAABA-9CA4-4D88-8892-F34420E8FFF0}" type="pres">
      <dgm:prSet presAssocID="{F61067B8-FFF8-473B-87AD-87A2090545F5}"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E36A2238-610A-46D3-98C6-938F2851435F}" type="pres">
      <dgm:prSet presAssocID="{F61067B8-FFF8-473B-87AD-87A2090545F5}" presName="spaceRect" presStyleCnt="0"/>
      <dgm:spPr/>
    </dgm:pt>
    <dgm:pt modelId="{B9D500D3-8FC1-4192-8F8C-C6C6F05DD721}" type="pres">
      <dgm:prSet presAssocID="{F61067B8-FFF8-473B-87AD-87A2090545F5}" presName="textRect" presStyleLbl="revTx" presStyleIdx="2" presStyleCnt="8">
        <dgm:presLayoutVars>
          <dgm:chMax val="1"/>
          <dgm:chPref val="1"/>
        </dgm:presLayoutVars>
      </dgm:prSet>
      <dgm:spPr/>
    </dgm:pt>
    <dgm:pt modelId="{3A03A37E-ABC0-4589-8EE2-289A8F56C3F5}" type="pres">
      <dgm:prSet presAssocID="{5E3063CF-6B91-4FC4-9EF0-8BAD4EA8DB12}" presName="sibTrans" presStyleCnt="0"/>
      <dgm:spPr/>
    </dgm:pt>
    <dgm:pt modelId="{4F683F1C-8CB5-44AA-BAB8-A0AA732BBEA2}" type="pres">
      <dgm:prSet presAssocID="{62D1924C-BAA4-4D8C-AD71-388728DF77D7}" presName="compNode" presStyleCnt="0"/>
      <dgm:spPr/>
    </dgm:pt>
    <dgm:pt modelId="{2E7288EA-3F16-452B-B534-64B58C07FA64}" type="pres">
      <dgm:prSet presAssocID="{62D1924C-BAA4-4D8C-AD71-388728DF77D7}"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0B8C8DFD-A249-4AFF-BDD4-1CC620BE53E9}" type="pres">
      <dgm:prSet presAssocID="{62D1924C-BAA4-4D8C-AD71-388728DF77D7}" presName="spaceRect" presStyleCnt="0"/>
      <dgm:spPr/>
    </dgm:pt>
    <dgm:pt modelId="{57962F1D-A85F-4B89-BD29-D086E1032413}" type="pres">
      <dgm:prSet presAssocID="{62D1924C-BAA4-4D8C-AD71-388728DF77D7}" presName="textRect" presStyleLbl="revTx" presStyleIdx="3" presStyleCnt="8">
        <dgm:presLayoutVars>
          <dgm:chMax val="1"/>
          <dgm:chPref val="1"/>
        </dgm:presLayoutVars>
      </dgm:prSet>
      <dgm:spPr/>
    </dgm:pt>
    <dgm:pt modelId="{472DB005-5A73-4D6B-9AB6-D85044386DC7}" type="pres">
      <dgm:prSet presAssocID="{F7E3F297-0A83-4101-A6EF-BFCF962E1C9E}" presName="sibTrans" presStyleCnt="0"/>
      <dgm:spPr/>
    </dgm:pt>
    <dgm:pt modelId="{0AAB0986-32E2-4CF5-B273-86938CCBD75D}" type="pres">
      <dgm:prSet presAssocID="{E8850485-477C-4A91-9140-A5593364E03A}" presName="compNode" presStyleCnt="0"/>
      <dgm:spPr/>
    </dgm:pt>
    <dgm:pt modelId="{7B002F85-A108-4DFB-A900-891C2E7C122D}" type="pres">
      <dgm:prSet presAssocID="{E8850485-477C-4A91-9140-A5593364E03A}"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arget"/>
        </a:ext>
      </dgm:extLst>
    </dgm:pt>
    <dgm:pt modelId="{5FEBA5F7-FD59-4E4B-AC55-6221D5C54632}" type="pres">
      <dgm:prSet presAssocID="{E8850485-477C-4A91-9140-A5593364E03A}" presName="spaceRect" presStyleCnt="0"/>
      <dgm:spPr/>
    </dgm:pt>
    <dgm:pt modelId="{3D475AA7-9AB4-4082-8612-B1F9F5C1E2B4}" type="pres">
      <dgm:prSet presAssocID="{E8850485-477C-4A91-9140-A5593364E03A}" presName="textRect" presStyleLbl="revTx" presStyleIdx="4" presStyleCnt="8">
        <dgm:presLayoutVars>
          <dgm:chMax val="1"/>
          <dgm:chPref val="1"/>
        </dgm:presLayoutVars>
      </dgm:prSet>
      <dgm:spPr/>
    </dgm:pt>
    <dgm:pt modelId="{B58870CC-3AEC-4EEC-B0B9-40001997C57B}" type="pres">
      <dgm:prSet presAssocID="{5FA51D57-7508-47D5-9634-8274330BD5ED}" presName="sibTrans" presStyleCnt="0"/>
      <dgm:spPr/>
    </dgm:pt>
    <dgm:pt modelId="{A05DDC1D-B3B5-4B19-92D9-5B52B7B53333}" type="pres">
      <dgm:prSet presAssocID="{33CCBE72-60F1-4C5F-9B55-3D0E73DB286F}" presName="compNode" presStyleCnt="0"/>
      <dgm:spPr/>
    </dgm:pt>
    <dgm:pt modelId="{329164EC-AA45-4960-916D-47323785B316}" type="pres">
      <dgm:prSet presAssocID="{33CCBE72-60F1-4C5F-9B55-3D0E73DB286F}"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Irritant"/>
        </a:ext>
      </dgm:extLst>
    </dgm:pt>
    <dgm:pt modelId="{9F6330D8-DB80-445F-B5C1-2B700C6A94F9}" type="pres">
      <dgm:prSet presAssocID="{33CCBE72-60F1-4C5F-9B55-3D0E73DB286F}" presName="spaceRect" presStyleCnt="0"/>
      <dgm:spPr/>
    </dgm:pt>
    <dgm:pt modelId="{A6C29E39-D533-4FF3-A82F-D2EA359C6BC4}" type="pres">
      <dgm:prSet presAssocID="{33CCBE72-60F1-4C5F-9B55-3D0E73DB286F}" presName="textRect" presStyleLbl="revTx" presStyleIdx="5" presStyleCnt="8">
        <dgm:presLayoutVars>
          <dgm:chMax val="1"/>
          <dgm:chPref val="1"/>
        </dgm:presLayoutVars>
      </dgm:prSet>
      <dgm:spPr/>
    </dgm:pt>
    <dgm:pt modelId="{F334F46F-EB7A-4772-81B7-E99AB11E1DEF}" type="pres">
      <dgm:prSet presAssocID="{D722BFA6-DA3B-4E5F-833C-F78F10BF085B}" presName="sibTrans" presStyleCnt="0"/>
      <dgm:spPr/>
    </dgm:pt>
    <dgm:pt modelId="{558448BB-2CCA-4C29-B1F0-9BDF7C108FBF}" type="pres">
      <dgm:prSet presAssocID="{027576AB-14F1-41E3-9AE0-953B9747B1A3}" presName="compNode" presStyleCnt="0"/>
      <dgm:spPr/>
    </dgm:pt>
    <dgm:pt modelId="{EACB1C83-68C8-42D4-B2F9-402CDE341D2D}" type="pres">
      <dgm:prSet presAssocID="{027576AB-14F1-41E3-9AE0-953B9747B1A3}"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Robot"/>
        </a:ext>
      </dgm:extLst>
    </dgm:pt>
    <dgm:pt modelId="{2C2133E8-47D6-45DD-80EF-AFF74672E579}" type="pres">
      <dgm:prSet presAssocID="{027576AB-14F1-41E3-9AE0-953B9747B1A3}" presName="spaceRect" presStyleCnt="0"/>
      <dgm:spPr/>
    </dgm:pt>
    <dgm:pt modelId="{BDDABB95-E80C-49A2-A404-A106CDF816F7}" type="pres">
      <dgm:prSet presAssocID="{027576AB-14F1-41E3-9AE0-953B9747B1A3}" presName="textRect" presStyleLbl="revTx" presStyleIdx="6" presStyleCnt="8">
        <dgm:presLayoutVars>
          <dgm:chMax val="1"/>
          <dgm:chPref val="1"/>
        </dgm:presLayoutVars>
      </dgm:prSet>
      <dgm:spPr/>
    </dgm:pt>
    <dgm:pt modelId="{4BADBBC6-5E81-4BEC-A0D5-731E7DDA8849}" type="pres">
      <dgm:prSet presAssocID="{A9928D2B-F998-4F81-AC06-B98A72025183}" presName="sibTrans" presStyleCnt="0"/>
      <dgm:spPr/>
    </dgm:pt>
    <dgm:pt modelId="{C39895CE-A3E7-4100-88FE-E365AC10B11D}" type="pres">
      <dgm:prSet presAssocID="{98716078-DFED-4ED0-9020-FD485515439F}" presName="compNode" presStyleCnt="0"/>
      <dgm:spPr/>
    </dgm:pt>
    <dgm:pt modelId="{B479931B-E5DF-4AC1-8506-2ACB5DE9A19D}" type="pres">
      <dgm:prSet presAssocID="{98716078-DFED-4ED0-9020-FD485515439F}"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Arrow Circle"/>
        </a:ext>
      </dgm:extLst>
    </dgm:pt>
    <dgm:pt modelId="{67F776F5-D1BA-4F41-A964-79A960DD3738}" type="pres">
      <dgm:prSet presAssocID="{98716078-DFED-4ED0-9020-FD485515439F}" presName="spaceRect" presStyleCnt="0"/>
      <dgm:spPr/>
    </dgm:pt>
    <dgm:pt modelId="{8274C9BE-D98A-485F-86FE-9F628F2DC619}" type="pres">
      <dgm:prSet presAssocID="{98716078-DFED-4ED0-9020-FD485515439F}" presName="textRect" presStyleLbl="revTx" presStyleIdx="7" presStyleCnt="8">
        <dgm:presLayoutVars>
          <dgm:chMax val="1"/>
          <dgm:chPref val="1"/>
        </dgm:presLayoutVars>
      </dgm:prSet>
      <dgm:spPr/>
    </dgm:pt>
  </dgm:ptLst>
  <dgm:cxnLst>
    <dgm:cxn modelId="{3577290F-C43D-4AB0-A847-A9D775FC64CD}" type="presOf" srcId="{F61067B8-FFF8-473B-87AD-87A2090545F5}" destId="{B9D500D3-8FC1-4192-8F8C-C6C6F05DD721}" srcOrd="0" destOrd="0" presId="urn:microsoft.com/office/officeart/2018/2/layout/IconLabelList"/>
    <dgm:cxn modelId="{83994416-D110-4D81-B3A5-8D019C9FF5BD}" srcId="{15E72419-7A88-41EC-97A1-2586854688C2}" destId="{98716078-DFED-4ED0-9020-FD485515439F}" srcOrd="7" destOrd="0" parTransId="{54AC6F23-04B8-4F39-841D-D86BFCDD3167}" sibTransId="{BA11A0AB-0399-4BDF-B1A5-3D5CE79A6678}"/>
    <dgm:cxn modelId="{99DDC824-8855-4E52-B1D1-C774BBC61C42}" srcId="{15E72419-7A88-41EC-97A1-2586854688C2}" destId="{62D1924C-BAA4-4D8C-AD71-388728DF77D7}" srcOrd="3" destOrd="0" parTransId="{BB8E0ABF-FDC7-42BB-BFA4-9F7867199131}" sibTransId="{F7E3F297-0A83-4101-A6EF-BFCF962E1C9E}"/>
    <dgm:cxn modelId="{E4D61037-37A3-40BD-94C9-F5E171C02EBA}" srcId="{15E72419-7A88-41EC-97A1-2586854688C2}" destId="{33CCBE72-60F1-4C5F-9B55-3D0E73DB286F}" srcOrd="5" destOrd="0" parTransId="{3884AAC5-E430-4F0B-BF89-98AE92D7244C}" sibTransId="{D722BFA6-DA3B-4E5F-833C-F78F10BF085B}"/>
    <dgm:cxn modelId="{1DB1F039-C5B9-44F9-8AAD-C94018088C56}" type="presOf" srcId="{A2B38428-BEC0-4734-8E48-91ABEF339AA0}" destId="{A3B7D88E-9CF3-448D-B15A-0319758B7251}" srcOrd="0" destOrd="0" presId="urn:microsoft.com/office/officeart/2018/2/layout/IconLabelList"/>
    <dgm:cxn modelId="{6F161F4C-6BF6-4353-8815-17AAB27FE4E5}" type="presOf" srcId="{62D1924C-BAA4-4D8C-AD71-388728DF77D7}" destId="{57962F1D-A85F-4B89-BD29-D086E1032413}" srcOrd="0" destOrd="0" presId="urn:microsoft.com/office/officeart/2018/2/layout/IconLabelList"/>
    <dgm:cxn modelId="{67B66A4D-8793-4AA4-A4ED-810301F36765}" type="presOf" srcId="{027576AB-14F1-41E3-9AE0-953B9747B1A3}" destId="{BDDABB95-E80C-49A2-A404-A106CDF816F7}" srcOrd="0" destOrd="0" presId="urn:microsoft.com/office/officeart/2018/2/layout/IconLabelList"/>
    <dgm:cxn modelId="{0B396D5F-F6B0-4E2C-9629-7192497D8028}" srcId="{15E72419-7A88-41EC-97A1-2586854688C2}" destId="{F61067B8-FFF8-473B-87AD-87A2090545F5}" srcOrd="2" destOrd="0" parTransId="{D1579E7D-D460-4BB7-B60E-70E970DF2225}" sibTransId="{5E3063CF-6B91-4FC4-9EF0-8BAD4EA8DB12}"/>
    <dgm:cxn modelId="{A3EFC686-FD6C-4BB9-9FAF-04C1030A7B75}" type="presOf" srcId="{33CCBE72-60F1-4C5F-9B55-3D0E73DB286F}" destId="{A6C29E39-D533-4FF3-A82F-D2EA359C6BC4}" srcOrd="0" destOrd="0" presId="urn:microsoft.com/office/officeart/2018/2/layout/IconLabelList"/>
    <dgm:cxn modelId="{5A171A89-5A0E-494F-BD6F-8D619AB67AAC}" srcId="{15E72419-7A88-41EC-97A1-2586854688C2}" destId="{E8850485-477C-4A91-9140-A5593364E03A}" srcOrd="4" destOrd="0" parTransId="{6238BA06-B6FA-4573-B1D4-F8375D113252}" sibTransId="{5FA51D57-7508-47D5-9634-8274330BD5ED}"/>
    <dgm:cxn modelId="{09099A8C-363A-4A44-927F-DABF1AD0A9C9}" type="presOf" srcId="{357BB620-8913-4BDD-AC55-E8AAA40A7975}" destId="{6C0ABBC2-E467-422E-8249-20CEDE4403FD}" srcOrd="0" destOrd="0" presId="urn:microsoft.com/office/officeart/2018/2/layout/IconLabelList"/>
    <dgm:cxn modelId="{95BC01BE-EED8-41E7-B4A6-81097B7BA022}" srcId="{15E72419-7A88-41EC-97A1-2586854688C2}" destId="{027576AB-14F1-41E3-9AE0-953B9747B1A3}" srcOrd="6" destOrd="0" parTransId="{EF7D2E84-960E-4079-B17B-98715F42A568}" sibTransId="{A9928D2B-F998-4F81-AC06-B98A72025183}"/>
    <dgm:cxn modelId="{816B97C1-7688-40EB-88EA-36782897D1DC}" srcId="{15E72419-7A88-41EC-97A1-2586854688C2}" destId="{357BB620-8913-4BDD-AC55-E8AAA40A7975}" srcOrd="1" destOrd="0" parTransId="{1C548C9C-317F-4B4F-B4AC-14FED3BB465D}" sibTransId="{E517F237-3F2A-446F-8C73-DDCFCF22FA96}"/>
    <dgm:cxn modelId="{0E46F9C1-B30E-4DE9-9A49-98071CD24D35}" srcId="{15E72419-7A88-41EC-97A1-2586854688C2}" destId="{A2B38428-BEC0-4734-8E48-91ABEF339AA0}" srcOrd="0" destOrd="0" parTransId="{EB9AEF19-241C-49A3-A10F-89C8B74F4E09}" sibTransId="{6BAD2852-5AC9-4BCB-B8AC-9F3B2948EC36}"/>
    <dgm:cxn modelId="{682EDAD7-E4E3-4A4F-BC05-525D4FEEE821}" type="presOf" srcId="{15E72419-7A88-41EC-97A1-2586854688C2}" destId="{DA04360C-01F3-43FE-B204-F97144FD64C2}" srcOrd="0" destOrd="0" presId="urn:microsoft.com/office/officeart/2018/2/layout/IconLabelList"/>
    <dgm:cxn modelId="{792277F4-9FCF-495B-8427-02EF773A6972}" type="presOf" srcId="{E8850485-477C-4A91-9140-A5593364E03A}" destId="{3D475AA7-9AB4-4082-8612-B1F9F5C1E2B4}" srcOrd="0" destOrd="0" presId="urn:microsoft.com/office/officeart/2018/2/layout/IconLabelList"/>
    <dgm:cxn modelId="{5822ABF7-1E6C-4052-A686-6747E68C0049}" type="presOf" srcId="{98716078-DFED-4ED0-9020-FD485515439F}" destId="{8274C9BE-D98A-485F-86FE-9F628F2DC619}" srcOrd="0" destOrd="0" presId="urn:microsoft.com/office/officeart/2018/2/layout/IconLabelList"/>
    <dgm:cxn modelId="{DC2D2A26-094D-4ADF-8C7A-701EBDC18865}" type="presParOf" srcId="{DA04360C-01F3-43FE-B204-F97144FD64C2}" destId="{9F9889A5-CEDC-4416-ABBA-5996A355FE4E}" srcOrd="0" destOrd="0" presId="urn:microsoft.com/office/officeart/2018/2/layout/IconLabelList"/>
    <dgm:cxn modelId="{107FFF73-449B-4669-9D7F-1646F8321041}" type="presParOf" srcId="{9F9889A5-CEDC-4416-ABBA-5996A355FE4E}" destId="{F38B901F-2DB5-4571-BC77-D640789E60FB}" srcOrd="0" destOrd="0" presId="urn:microsoft.com/office/officeart/2018/2/layout/IconLabelList"/>
    <dgm:cxn modelId="{3CA9DB0E-D64B-4B0E-A97D-8776B0B636C4}" type="presParOf" srcId="{9F9889A5-CEDC-4416-ABBA-5996A355FE4E}" destId="{2E10D5CB-4902-4E0B-9651-F2713E34510D}" srcOrd="1" destOrd="0" presId="urn:microsoft.com/office/officeart/2018/2/layout/IconLabelList"/>
    <dgm:cxn modelId="{A63DD0F8-CFAF-4EE9-A7E8-04762D40C710}" type="presParOf" srcId="{9F9889A5-CEDC-4416-ABBA-5996A355FE4E}" destId="{A3B7D88E-9CF3-448D-B15A-0319758B7251}" srcOrd="2" destOrd="0" presId="urn:microsoft.com/office/officeart/2018/2/layout/IconLabelList"/>
    <dgm:cxn modelId="{0C5536DF-D7A7-4916-A27D-7F8FC5A573FE}" type="presParOf" srcId="{DA04360C-01F3-43FE-B204-F97144FD64C2}" destId="{6DCA8E79-B8B0-407D-929C-BE767DAF527E}" srcOrd="1" destOrd="0" presId="urn:microsoft.com/office/officeart/2018/2/layout/IconLabelList"/>
    <dgm:cxn modelId="{6F9EB6FE-2056-44B1-B6A5-EA8DA454F56A}" type="presParOf" srcId="{DA04360C-01F3-43FE-B204-F97144FD64C2}" destId="{48E4B40B-3252-4842-BED8-E24EB28A2887}" srcOrd="2" destOrd="0" presId="urn:microsoft.com/office/officeart/2018/2/layout/IconLabelList"/>
    <dgm:cxn modelId="{A7346786-3992-4631-AD8F-964DAD4C32F7}" type="presParOf" srcId="{48E4B40B-3252-4842-BED8-E24EB28A2887}" destId="{F88BE60D-C270-460C-95C0-8C1324266366}" srcOrd="0" destOrd="0" presId="urn:microsoft.com/office/officeart/2018/2/layout/IconLabelList"/>
    <dgm:cxn modelId="{AAA4C5AE-5521-4319-97A8-A6D38DC6BB04}" type="presParOf" srcId="{48E4B40B-3252-4842-BED8-E24EB28A2887}" destId="{0594A1D8-5A43-451C-BC56-2345FDCB3475}" srcOrd="1" destOrd="0" presId="urn:microsoft.com/office/officeart/2018/2/layout/IconLabelList"/>
    <dgm:cxn modelId="{4A68E85F-1297-4556-B0CC-527A213CB4D4}" type="presParOf" srcId="{48E4B40B-3252-4842-BED8-E24EB28A2887}" destId="{6C0ABBC2-E467-422E-8249-20CEDE4403FD}" srcOrd="2" destOrd="0" presId="urn:microsoft.com/office/officeart/2018/2/layout/IconLabelList"/>
    <dgm:cxn modelId="{3FBAAE09-D819-4E46-A5DB-4C1B753C11EA}" type="presParOf" srcId="{DA04360C-01F3-43FE-B204-F97144FD64C2}" destId="{F0F4D7C9-8F4D-4CBB-AA79-6123DD68EC0D}" srcOrd="3" destOrd="0" presId="urn:microsoft.com/office/officeart/2018/2/layout/IconLabelList"/>
    <dgm:cxn modelId="{D2090A73-404B-4C74-8A87-F4E06417C982}" type="presParOf" srcId="{DA04360C-01F3-43FE-B204-F97144FD64C2}" destId="{52F97D0B-CEF9-4DD1-9AD2-A7947D93BB3D}" srcOrd="4" destOrd="0" presId="urn:microsoft.com/office/officeart/2018/2/layout/IconLabelList"/>
    <dgm:cxn modelId="{28E54BDF-6CB4-46D8-A813-D13E8F7B654D}" type="presParOf" srcId="{52F97D0B-CEF9-4DD1-9AD2-A7947D93BB3D}" destId="{66FBAABA-9CA4-4D88-8892-F34420E8FFF0}" srcOrd="0" destOrd="0" presId="urn:microsoft.com/office/officeart/2018/2/layout/IconLabelList"/>
    <dgm:cxn modelId="{500AEF16-9DC8-4F29-B8E3-9C7722CD0540}" type="presParOf" srcId="{52F97D0B-CEF9-4DD1-9AD2-A7947D93BB3D}" destId="{E36A2238-610A-46D3-98C6-938F2851435F}" srcOrd="1" destOrd="0" presId="urn:microsoft.com/office/officeart/2018/2/layout/IconLabelList"/>
    <dgm:cxn modelId="{E28F1D55-2424-407D-85B4-782397812A1E}" type="presParOf" srcId="{52F97D0B-CEF9-4DD1-9AD2-A7947D93BB3D}" destId="{B9D500D3-8FC1-4192-8F8C-C6C6F05DD721}" srcOrd="2" destOrd="0" presId="urn:microsoft.com/office/officeart/2018/2/layout/IconLabelList"/>
    <dgm:cxn modelId="{2197869E-5C1F-4147-8048-E51C763F8162}" type="presParOf" srcId="{DA04360C-01F3-43FE-B204-F97144FD64C2}" destId="{3A03A37E-ABC0-4589-8EE2-289A8F56C3F5}" srcOrd="5" destOrd="0" presId="urn:microsoft.com/office/officeart/2018/2/layout/IconLabelList"/>
    <dgm:cxn modelId="{A4FB32D7-64AE-456D-83C6-86F64495373B}" type="presParOf" srcId="{DA04360C-01F3-43FE-B204-F97144FD64C2}" destId="{4F683F1C-8CB5-44AA-BAB8-A0AA732BBEA2}" srcOrd="6" destOrd="0" presId="urn:microsoft.com/office/officeart/2018/2/layout/IconLabelList"/>
    <dgm:cxn modelId="{17658018-CB21-45B9-ADDF-1F24342908C5}" type="presParOf" srcId="{4F683F1C-8CB5-44AA-BAB8-A0AA732BBEA2}" destId="{2E7288EA-3F16-452B-B534-64B58C07FA64}" srcOrd="0" destOrd="0" presId="urn:microsoft.com/office/officeart/2018/2/layout/IconLabelList"/>
    <dgm:cxn modelId="{5D2D149D-5BB5-4AEB-A015-75013E4A87E2}" type="presParOf" srcId="{4F683F1C-8CB5-44AA-BAB8-A0AA732BBEA2}" destId="{0B8C8DFD-A249-4AFF-BDD4-1CC620BE53E9}" srcOrd="1" destOrd="0" presId="urn:microsoft.com/office/officeart/2018/2/layout/IconLabelList"/>
    <dgm:cxn modelId="{7D36357D-9002-4C77-A6AB-171C60E66CF2}" type="presParOf" srcId="{4F683F1C-8CB5-44AA-BAB8-A0AA732BBEA2}" destId="{57962F1D-A85F-4B89-BD29-D086E1032413}" srcOrd="2" destOrd="0" presId="urn:microsoft.com/office/officeart/2018/2/layout/IconLabelList"/>
    <dgm:cxn modelId="{7B67BA00-AC26-4545-82FE-931F51F18E63}" type="presParOf" srcId="{DA04360C-01F3-43FE-B204-F97144FD64C2}" destId="{472DB005-5A73-4D6B-9AB6-D85044386DC7}" srcOrd="7" destOrd="0" presId="urn:microsoft.com/office/officeart/2018/2/layout/IconLabelList"/>
    <dgm:cxn modelId="{3858EE66-8B3B-4BDD-84F3-23ED6AE2BB0B}" type="presParOf" srcId="{DA04360C-01F3-43FE-B204-F97144FD64C2}" destId="{0AAB0986-32E2-4CF5-B273-86938CCBD75D}" srcOrd="8" destOrd="0" presId="urn:microsoft.com/office/officeart/2018/2/layout/IconLabelList"/>
    <dgm:cxn modelId="{D09A3376-890C-4186-B7CA-3C38126BDD6E}" type="presParOf" srcId="{0AAB0986-32E2-4CF5-B273-86938CCBD75D}" destId="{7B002F85-A108-4DFB-A900-891C2E7C122D}" srcOrd="0" destOrd="0" presId="urn:microsoft.com/office/officeart/2018/2/layout/IconLabelList"/>
    <dgm:cxn modelId="{6156F5B0-58F6-4321-90AB-A77E9F3730D7}" type="presParOf" srcId="{0AAB0986-32E2-4CF5-B273-86938CCBD75D}" destId="{5FEBA5F7-FD59-4E4B-AC55-6221D5C54632}" srcOrd="1" destOrd="0" presId="urn:microsoft.com/office/officeart/2018/2/layout/IconLabelList"/>
    <dgm:cxn modelId="{E2E2501A-846B-4B04-823F-93384720A914}" type="presParOf" srcId="{0AAB0986-32E2-4CF5-B273-86938CCBD75D}" destId="{3D475AA7-9AB4-4082-8612-B1F9F5C1E2B4}" srcOrd="2" destOrd="0" presId="urn:microsoft.com/office/officeart/2018/2/layout/IconLabelList"/>
    <dgm:cxn modelId="{1BEEFD31-CE49-47A2-B8A3-6D8597D5D6A4}" type="presParOf" srcId="{DA04360C-01F3-43FE-B204-F97144FD64C2}" destId="{B58870CC-3AEC-4EEC-B0B9-40001997C57B}" srcOrd="9" destOrd="0" presId="urn:microsoft.com/office/officeart/2018/2/layout/IconLabelList"/>
    <dgm:cxn modelId="{2FF9D4B0-384B-4B04-B161-FC0D23506B81}" type="presParOf" srcId="{DA04360C-01F3-43FE-B204-F97144FD64C2}" destId="{A05DDC1D-B3B5-4B19-92D9-5B52B7B53333}" srcOrd="10" destOrd="0" presId="urn:microsoft.com/office/officeart/2018/2/layout/IconLabelList"/>
    <dgm:cxn modelId="{771082F2-5C21-444D-90D8-EFCAAC965D75}" type="presParOf" srcId="{A05DDC1D-B3B5-4B19-92D9-5B52B7B53333}" destId="{329164EC-AA45-4960-916D-47323785B316}" srcOrd="0" destOrd="0" presId="urn:microsoft.com/office/officeart/2018/2/layout/IconLabelList"/>
    <dgm:cxn modelId="{E289556F-EB9F-479D-9B16-9C15C5906F3A}" type="presParOf" srcId="{A05DDC1D-B3B5-4B19-92D9-5B52B7B53333}" destId="{9F6330D8-DB80-445F-B5C1-2B700C6A94F9}" srcOrd="1" destOrd="0" presId="urn:microsoft.com/office/officeart/2018/2/layout/IconLabelList"/>
    <dgm:cxn modelId="{6AC910CF-74E0-4E98-A2CD-4338DE957820}" type="presParOf" srcId="{A05DDC1D-B3B5-4B19-92D9-5B52B7B53333}" destId="{A6C29E39-D533-4FF3-A82F-D2EA359C6BC4}" srcOrd="2" destOrd="0" presId="urn:microsoft.com/office/officeart/2018/2/layout/IconLabelList"/>
    <dgm:cxn modelId="{B0733326-5404-417C-9E5E-45DAEE0AF1F5}" type="presParOf" srcId="{DA04360C-01F3-43FE-B204-F97144FD64C2}" destId="{F334F46F-EB7A-4772-81B7-E99AB11E1DEF}" srcOrd="11" destOrd="0" presId="urn:microsoft.com/office/officeart/2018/2/layout/IconLabelList"/>
    <dgm:cxn modelId="{B2D35618-BBD5-461E-A8A2-846321C71A7A}" type="presParOf" srcId="{DA04360C-01F3-43FE-B204-F97144FD64C2}" destId="{558448BB-2CCA-4C29-B1F0-9BDF7C108FBF}" srcOrd="12" destOrd="0" presId="urn:microsoft.com/office/officeart/2018/2/layout/IconLabelList"/>
    <dgm:cxn modelId="{0BB7FAD7-BF78-43E2-B8DD-5438A04EB88C}" type="presParOf" srcId="{558448BB-2CCA-4C29-B1F0-9BDF7C108FBF}" destId="{EACB1C83-68C8-42D4-B2F9-402CDE341D2D}" srcOrd="0" destOrd="0" presId="urn:microsoft.com/office/officeart/2018/2/layout/IconLabelList"/>
    <dgm:cxn modelId="{5E15736C-41CC-4543-8651-A546844265A5}" type="presParOf" srcId="{558448BB-2CCA-4C29-B1F0-9BDF7C108FBF}" destId="{2C2133E8-47D6-45DD-80EF-AFF74672E579}" srcOrd="1" destOrd="0" presId="urn:microsoft.com/office/officeart/2018/2/layout/IconLabelList"/>
    <dgm:cxn modelId="{F1167A16-1AFC-41A4-B05A-FC8E6F8A98B3}" type="presParOf" srcId="{558448BB-2CCA-4C29-B1F0-9BDF7C108FBF}" destId="{BDDABB95-E80C-49A2-A404-A106CDF816F7}" srcOrd="2" destOrd="0" presId="urn:microsoft.com/office/officeart/2018/2/layout/IconLabelList"/>
    <dgm:cxn modelId="{F9A47A2C-0CC8-44C0-809E-F3CE641F13A1}" type="presParOf" srcId="{DA04360C-01F3-43FE-B204-F97144FD64C2}" destId="{4BADBBC6-5E81-4BEC-A0D5-731E7DDA8849}" srcOrd="13" destOrd="0" presId="urn:microsoft.com/office/officeart/2018/2/layout/IconLabelList"/>
    <dgm:cxn modelId="{A2A8F237-3989-4BF4-8A03-FABD82D74D94}" type="presParOf" srcId="{DA04360C-01F3-43FE-B204-F97144FD64C2}" destId="{C39895CE-A3E7-4100-88FE-E365AC10B11D}" srcOrd="14" destOrd="0" presId="urn:microsoft.com/office/officeart/2018/2/layout/IconLabelList"/>
    <dgm:cxn modelId="{251FB765-81DD-47CF-BF58-0D0DBCEF88D3}" type="presParOf" srcId="{C39895CE-A3E7-4100-88FE-E365AC10B11D}" destId="{B479931B-E5DF-4AC1-8506-2ACB5DE9A19D}" srcOrd="0" destOrd="0" presId="urn:microsoft.com/office/officeart/2018/2/layout/IconLabelList"/>
    <dgm:cxn modelId="{1329B219-566B-4023-ACFA-3F5C7746CEF1}" type="presParOf" srcId="{C39895CE-A3E7-4100-88FE-E365AC10B11D}" destId="{67F776F5-D1BA-4F41-A964-79A960DD3738}" srcOrd="1" destOrd="0" presId="urn:microsoft.com/office/officeart/2018/2/layout/IconLabelList"/>
    <dgm:cxn modelId="{0D5061DE-B361-495B-910F-07CD29DED1B3}" type="presParOf" srcId="{C39895CE-A3E7-4100-88FE-E365AC10B11D}" destId="{8274C9BE-D98A-485F-86FE-9F628F2DC619}"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20079B-C6E3-2A48-9592-58210125C2AB}">
      <dsp:nvSpPr>
        <dsp:cNvPr id="0" name=""/>
        <dsp:cNvSpPr/>
      </dsp:nvSpPr>
      <dsp:spPr>
        <a:xfrm>
          <a:off x="0" y="377696"/>
          <a:ext cx="6228481" cy="272159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3399" tIns="499872" rIns="483399" bIns="113792" numCol="1" spcCol="1270" anchor="t"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Times New Roman" panose="02020603050405020304" pitchFamily="18" charset="0"/>
              <a:cs typeface="Times New Roman" panose="02020603050405020304" pitchFamily="18" charset="0"/>
            </a:rPr>
            <a:t>Structural mismatches in Service BOMs led to:</a:t>
          </a:r>
        </a:p>
        <a:p>
          <a:pPr marL="342900" lvl="2" indent="-171450" algn="l" defTabSz="711200">
            <a:lnSpc>
              <a:spcPct val="90000"/>
            </a:lnSpc>
            <a:spcBef>
              <a:spcPct val="0"/>
            </a:spcBef>
            <a:spcAft>
              <a:spcPct val="15000"/>
            </a:spcAft>
            <a:buFont typeface="Arial" panose="020B0604020202020204" pitchFamily="34" charset="0"/>
            <a:buChar char="•"/>
          </a:pPr>
          <a:r>
            <a:rPr lang="en-US" sz="1600" kern="1200" dirty="0">
              <a:latin typeface="Times New Roman" panose="02020603050405020304" pitchFamily="18" charset="0"/>
              <a:cs typeface="Times New Roman" panose="02020603050405020304" pitchFamily="18" charset="0"/>
            </a:rPr>
            <a:t>Wrong part orders</a:t>
          </a:r>
        </a:p>
        <a:p>
          <a:pPr marL="342900" lvl="2" indent="-171450" algn="l" defTabSz="711200">
            <a:lnSpc>
              <a:spcPct val="90000"/>
            </a:lnSpc>
            <a:spcBef>
              <a:spcPct val="0"/>
            </a:spcBef>
            <a:spcAft>
              <a:spcPct val="15000"/>
            </a:spcAft>
            <a:buFont typeface="Arial" panose="020B0604020202020204" pitchFamily="34" charset="0"/>
            <a:buChar char="•"/>
          </a:pPr>
          <a:r>
            <a:rPr lang="en-US" sz="1600" kern="1200" dirty="0">
              <a:latin typeface="Times New Roman" panose="02020603050405020304" pitchFamily="18" charset="0"/>
              <a:cs typeface="Times New Roman" panose="02020603050405020304" pitchFamily="18" charset="0"/>
            </a:rPr>
            <a:t>Delays in repairs</a:t>
          </a:r>
        </a:p>
        <a:p>
          <a:pPr marL="342900" lvl="2" indent="-171450" algn="l" defTabSz="711200">
            <a:lnSpc>
              <a:spcPct val="90000"/>
            </a:lnSpc>
            <a:spcBef>
              <a:spcPct val="0"/>
            </a:spcBef>
            <a:spcAft>
              <a:spcPct val="15000"/>
            </a:spcAft>
            <a:buFont typeface="Arial" panose="020B0604020202020204" pitchFamily="34" charset="0"/>
            <a:buChar char="•"/>
          </a:pPr>
          <a:r>
            <a:rPr lang="en-US" sz="1600" kern="1200" dirty="0">
              <a:latin typeface="Times New Roman" panose="02020603050405020304" pitchFamily="18" charset="0"/>
              <a:cs typeface="Times New Roman" panose="02020603050405020304" pitchFamily="18" charset="0"/>
            </a:rPr>
            <a:t>Missed first-time fix targets</a:t>
          </a:r>
        </a:p>
        <a:p>
          <a:pPr marL="342900" lvl="2" indent="-171450" algn="l" defTabSz="711200">
            <a:lnSpc>
              <a:spcPct val="90000"/>
            </a:lnSpc>
            <a:spcBef>
              <a:spcPct val="0"/>
            </a:spcBef>
            <a:spcAft>
              <a:spcPct val="15000"/>
            </a:spcAft>
            <a:buFont typeface="Arial" panose="020B0604020202020204" pitchFamily="34" charset="0"/>
            <a:buChar char="•"/>
          </a:pPr>
          <a:endParaRPr lang="en-US" sz="1600" kern="1200" dirty="0">
            <a:latin typeface="Times New Roman" panose="02020603050405020304" pitchFamily="18" charset="0"/>
            <a:cs typeface="Times New Roman" panose="02020603050405020304" pitchFamily="18" charset="0"/>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Times New Roman" panose="02020603050405020304" pitchFamily="18" charset="0"/>
              <a:cs typeface="Times New Roman" panose="02020603050405020304" pitchFamily="18" charset="0"/>
            </a:rPr>
            <a:t>Metrics Tracked:</a:t>
          </a:r>
        </a:p>
        <a:p>
          <a:pPr marL="342900" lvl="2" indent="-171450" algn="l" defTabSz="711200">
            <a:lnSpc>
              <a:spcPct val="90000"/>
            </a:lnSpc>
            <a:spcBef>
              <a:spcPct val="0"/>
            </a:spcBef>
            <a:spcAft>
              <a:spcPct val="15000"/>
            </a:spcAft>
            <a:buFont typeface="Arial" panose="020B0604020202020204" pitchFamily="34" charset="0"/>
            <a:buChar char="•"/>
          </a:pPr>
          <a:r>
            <a:rPr lang="en-US" sz="1600" kern="1200" dirty="0">
              <a:latin typeface="Times New Roman" panose="02020603050405020304" pitchFamily="18" charset="0"/>
              <a:cs typeface="Times New Roman" panose="02020603050405020304" pitchFamily="18" charset="0"/>
            </a:rPr>
            <a:t>BOM accuracy %</a:t>
          </a:r>
        </a:p>
        <a:p>
          <a:pPr marL="342900" lvl="2" indent="-171450" algn="l" defTabSz="711200">
            <a:lnSpc>
              <a:spcPct val="90000"/>
            </a:lnSpc>
            <a:spcBef>
              <a:spcPct val="0"/>
            </a:spcBef>
            <a:spcAft>
              <a:spcPct val="15000"/>
            </a:spcAft>
            <a:buFont typeface="Arial" panose="020B0604020202020204" pitchFamily="34" charset="0"/>
            <a:buChar char="•"/>
          </a:pPr>
          <a:r>
            <a:rPr lang="en-US" sz="1600" kern="1200" dirty="0">
              <a:latin typeface="Times New Roman" panose="02020603050405020304" pitchFamily="18" charset="0"/>
              <a:cs typeface="Times New Roman" panose="02020603050405020304" pitchFamily="18" charset="0"/>
            </a:rPr>
            <a:t>Change cycle time (avg. 7 days pre-project)</a:t>
          </a:r>
        </a:p>
        <a:p>
          <a:pPr marL="342900" lvl="2" indent="-171450" algn="l" defTabSz="711200">
            <a:lnSpc>
              <a:spcPct val="90000"/>
            </a:lnSpc>
            <a:spcBef>
              <a:spcPct val="0"/>
            </a:spcBef>
            <a:spcAft>
              <a:spcPct val="15000"/>
            </a:spcAft>
            <a:buFont typeface="Arial" panose="020B0604020202020204" pitchFamily="34" charset="0"/>
            <a:buChar char="•"/>
          </a:pPr>
          <a:r>
            <a:rPr lang="en-US" sz="1600" kern="1200" dirty="0">
              <a:latin typeface="Times New Roman" panose="02020603050405020304" pitchFamily="18" charset="0"/>
              <a:cs typeface="Times New Roman" panose="02020603050405020304" pitchFamily="18" charset="0"/>
            </a:rPr>
            <a:t>Number of field ticket escalations</a:t>
          </a:r>
        </a:p>
      </dsp:txBody>
      <dsp:txXfrm>
        <a:off x="0" y="377696"/>
        <a:ext cx="6228481" cy="2721599"/>
      </dsp:txXfrm>
    </dsp:sp>
    <dsp:sp modelId="{01DF5736-CD59-9246-B229-0AC3650D250B}">
      <dsp:nvSpPr>
        <dsp:cNvPr id="0" name=""/>
        <dsp:cNvSpPr/>
      </dsp:nvSpPr>
      <dsp:spPr>
        <a:xfrm>
          <a:off x="311424" y="23456"/>
          <a:ext cx="4359936"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4795" tIns="0" rIns="164795" bIns="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 Case Study: Mercedes-Benz Trucks</a:t>
          </a:r>
          <a:endParaRPr lang="en-US" sz="1600" kern="1200" dirty="0">
            <a:latin typeface="Times New Roman" panose="02020603050405020304" pitchFamily="18" charset="0"/>
            <a:cs typeface="Times New Roman" panose="02020603050405020304" pitchFamily="18" charset="0"/>
          </a:endParaRPr>
        </a:p>
      </dsp:txBody>
      <dsp:txXfrm>
        <a:off x="346009" y="58041"/>
        <a:ext cx="4290766" cy="6393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2E35FD-5B68-4EAD-87D4-116DDCA4D787}">
      <dsp:nvSpPr>
        <dsp:cNvPr id="0" name=""/>
        <dsp:cNvSpPr/>
      </dsp:nvSpPr>
      <dsp:spPr>
        <a:xfrm>
          <a:off x="632575" y="98671"/>
          <a:ext cx="601962" cy="6019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7C746A-A4FE-4A7E-BA5C-328C2C7D26AC}">
      <dsp:nvSpPr>
        <dsp:cNvPr id="0" name=""/>
        <dsp:cNvSpPr/>
      </dsp:nvSpPr>
      <dsp:spPr>
        <a:xfrm>
          <a:off x="264709" y="901338"/>
          <a:ext cx="1337695" cy="53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75%</a:t>
          </a:r>
          <a:r>
            <a:rPr lang="en-US" sz="1100" kern="1200" dirty="0">
              <a:latin typeface="Times New Roman" panose="02020603050405020304" pitchFamily="18" charset="0"/>
              <a:cs typeface="Times New Roman" panose="02020603050405020304" pitchFamily="18" charset="0"/>
            </a:rPr>
            <a:t> of errors traced to internal gaps (tools, process, ownership)</a:t>
          </a:r>
        </a:p>
      </dsp:txBody>
      <dsp:txXfrm>
        <a:off x="264709" y="901338"/>
        <a:ext cx="1337695" cy="535078"/>
      </dsp:txXfrm>
    </dsp:sp>
    <dsp:sp modelId="{1286F53C-30F7-4F33-BC00-0011EF1B38F4}">
      <dsp:nvSpPr>
        <dsp:cNvPr id="0" name=""/>
        <dsp:cNvSpPr/>
      </dsp:nvSpPr>
      <dsp:spPr>
        <a:xfrm>
          <a:off x="2204367" y="98671"/>
          <a:ext cx="601962" cy="6019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FD759D-17C3-40D7-A0FC-B83AFD3B2A22}">
      <dsp:nvSpPr>
        <dsp:cNvPr id="0" name=""/>
        <dsp:cNvSpPr/>
      </dsp:nvSpPr>
      <dsp:spPr>
        <a:xfrm>
          <a:off x="1836501" y="901338"/>
          <a:ext cx="1337695" cy="53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Revision errors linked to </a:t>
          </a:r>
          <a:r>
            <a:rPr lang="en-US" sz="1100" b="1" kern="1200" dirty="0">
              <a:latin typeface="Times New Roman" panose="02020603050405020304" pitchFamily="18" charset="0"/>
              <a:cs typeface="Times New Roman" panose="02020603050405020304" pitchFamily="18" charset="0"/>
            </a:rPr>
            <a:t>manual overrides &amp; outdated logs</a:t>
          </a:r>
          <a:endParaRPr lang="en-US" sz="1100" kern="1200" dirty="0">
            <a:latin typeface="Times New Roman" panose="02020603050405020304" pitchFamily="18" charset="0"/>
            <a:cs typeface="Times New Roman" panose="02020603050405020304" pitchFamily="18" charset="0"/>
          </a:endParaRPr>
        </a:p>
      </dsp:txBody>
      <dsp:txXfrm>
        <a:off x="1836501" y="901338"/>
        <a:ext cx="1337695" cy="535078"/>
      </dsp:txXfrm>
    </dsp:sp>
    <dsp:sp modelId="{8BFD939E-E25C-4E6C-8D27-0F7A496AF771}">
      <dsp:nvSpPr>
        <dsp:cNvPr id="0" name=""/>
        <dsp:cNvSpPr/>
      </dsp:nvSpPr>
      <dsp:spPr>
        <a:xfrm>
          <a:off x="632575" y="1770840"/>
          <a:ext cx="601962" cy="6019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E7798D-C7E9-4492-A2EF-102ADFFBB1A1}">
      <dsp:nvSpPr>
        <dsp:cNvPr id="0" name=""/>
        <dsp:cNvSpPr/>
      </dsp:nvSpPr>
      <dsp:spPr>
        <a:xfrm>
          <a:off x="264709" y="2573507"/>
          <a:ext cx="1337695" cy="53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latin typeface="Times New Roman" panose="02020603050405020304" pitchFamily="18" charset="0"/>
              <a:cs typeface="Times New Roman" panose="02020603050405020304" pitchFamily="18" charset="0"/>
            </a:rPr>
            <a:t>Vendor mismatches from </a:t>
          </a:r>
          <a:r>
            <a:rPr lang="en-US" sz="1100" b="1" kern="1200">
              <a:latin typeface="Times New Roman" panose="02020603050405020304" pitchFamily="18" charset="0"/>
              <a:cs typeface="Times New Roman" panose="02020603050405020304" pitchFamily="18" charset="0"/>
            </a:rPr>
            <a:t>unsynced ERP–supplier systems</a:t>
          </a:r>
          <a:endParaRPr lang="en-US" sz="1100" kern="1200">
            <a:latin typeface="Times New Roman" panose="02020603050405020304" pitchFamily="18" charset="0"/>
            <a:cs typeface="Times New Roman" panose="02020603050405020304" pitchFamily="18" charset="0"/>
          </a:endParaRPr>
        </a:p>
      </dsp:txBody>
      <dsp:txXfrm>
        <a:off x="264709" y="2573507"/>
        <a:ext cx="1337695" cy="535078"/>
      </dsp:txXfrm>
    </dsp:sp>
    <dsp:sp modelId="{6F7E99B7-5D39-4C14-98CC-DD322191E232}">
      <dsp:nvSpPr>
        <dsp:cNvPr id="0" name=""/>
        <dsp:cNvSpPr/>
      </dsp:nvSpPr>
      <dsp:spPr>
        <a:xfrm>
          <a:off x="2204367" y="1770840"/>
          <a:ext cx="601962" cy="60196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C73F34-6575-44D2-BC6F-FE16279E1502}">
      <dsp:nvSpPr>
        <dsp:cNvPr id="0" name=""/>
        <dsp:cNvSpPr/>
      </dsp:nvSpPr>
      <dsp:spPr>
        <a:xfrm>
          <a:off x="1836501" y="2573507"/>
          <a:ext cx="1337695" cy="53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latin typeface="Times New Roman" panose="02020603050405020304" pitchFamily="18" charset="0"/>
              <a:cs typeface="Times New Roman" panose="02020603050405020304" pitchFamily="18" charset="0"/>
            </a:rPr>
            <a:t>RCA confirmed by </a:t>
          </a:r>
          <a:r>
            <a:rPr lang="en-US" sz="1100" b="1" kern="1200">
              <a:latin typeface="Times New Roman" panose="02020603050405020304" pitchFamily="18" charset="0"/>
              <a:cs typeface="Times New Roman" panose="02020603050405020304" pitchFamily="18" charset="0"/>
            </a:rPr>
            <a:t>field tickets and Q2 audit data</a:t>
          </a:r>
          <a:endParaRPr lang="en-US" sz="1100" kern="1200">
            <a:latin typeface="Times New Roman" panose="02020603050405020304" pitchFamily="18" charset="0"/>
            <a:cs typeface="Times New Roman" panose="02020603050405020304" pitchFamily="18" charset="0"/>
          </a:endParaRPr>
        </a:p>
      </dsp:txBody>
      <dsp:txXfrm>
        <a:off x="1836501" y="2573507"/>
        <a:ext cx="1337695" cy="5350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8B901F-2DB5-4571-BC77-D640789E60FB}">
      <dsp:nvSpPr>
        <dsp:cNvPr id="0" name=""/>
        <dsp:cNvSpPr/>
      </dsp:nvSpPr>
      <dsp:spPr>
        <a:xfrm>
          <a:off x="456121" y="746340"/>
          <a:ext cx="740390" cy="7403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B7D88E-9CF3-448D-B15A-0319758B7251}">
      <dsp:nvSpPr>
        <dsp:cNvPr id="0" name=""/>
        <dsp:cNvSpPr/>
      </dsp:nvSpPr>
      <dsp:spPr>
        <a:xfrm>
          <a:off x="3660" y="1804364"/>
          <a:ext cx="1645312" cy="719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a:t>Challenge Identified</a:t>
          </a:r>
          <a:br>
            <a:rPr lang="en-US" sz="1100" kern="1200"/>
          </a:br>
          <a:r>
            <a:rPr lang="en-US" sz="1100" kern="1200"/>
            <a:t>BOM mismatches led to downtime, service delays, and operational inefficiencies.</a:t>
          </a:r>
        </a:p>
      </dsp:txBody>
      <dsp:txXfrm>
        <a:off x="3660" y="1804364"/>
        <a:ext cx="1645312" cy="719824"/>
      </dsp:txXfrm>
    </dsp:sp>
    <dsp:sp modelId="{F88BE60D-C270-460C-95C0-8C1324266366}">
      <dsp:nvSpPr>
        <dsp:cNvPr id="0" name=""/>
        <dsp:cNvSpPr/>
      </dsp:nvSpPr>
      <dsp:spPr>
        <a:xfrm>
          <a:off x="2389363" y="746340"/>
          <a:ext cx="740390" cy="7403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0ABBC2-E467-422E-8249-20CEDE4403FD}">
      <dsp:nvSpPr>
        <dsp:cNvPr id="0" name=""/>
        <dsp:cNvSpPr/>
      </dsp:nvSpPr>
      <dsp:spPr>
        <a:xfrm>
          <a:off x="1936902" y="1804364"/>
          <a:ext cx="1645312" cy="719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a:t>Approach Taken</a:t>
          </a:r>
          <a:br>
            <a:rPr lang="en-US" sz="1100" kern="1200"/>
          </a:br>
          <a:r>
            <a:rPr lang="en-US" sz="1100" kern="1200"/>
            <a:t>Used structured problem-solving (DMAIC) to pinpoint, measure, and eliminate root causes.</a:t>
          </a:r>
        </a:p>
      </dsp:txBody>
      <dsp:txXfrm>
        <a:off x="1936902" y="1804364"/>
        <a:ext cx="1645312" cy="719824"/>
      </dsp:txXfrm>
    </dsp:sp>
    <dsp:sp modelId="{66FBAABA-9CA4-4D88-8892-F34420E8FFF0}">
      <dsp:nvSpPr>
        <dsp:cNvPr id="0" name=""/>
        <dsp:cNvSpPr/>
      </dsp:nvSpPr>
      <dsp:spPr>
        <a:xfrm>
          <a:off x="4322605" y="746340"/>
          <a:ext cx="740390" cy="74039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D500D3-8FC1-4192-8F8C-C6C6F05DD721}">
      <dsp:nvSpPr>
        <dsp:cNvPr id="0" name=""/>
        <dsp:cNvSpPr/>
      </dsp:nvSpPr>
      <dsp:spPr>
        <a:xfrm>
          <a:off x="3870144" y="1804364"/>
          <a:ext cx="1645312" cy="719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a:t>Actions Delivered</a:t>
          </a:r>
          <a:br>
            <a:rPr lang="en-US" sz="1100" kern="1200"/>
          </a:br>
          <a:r>
            <a:rPr lang="en-US" sz="1100" kern="1200"/>
            <a:t>Streamlined BOM structuring, enhanced PLM–ERP alignment, and introduced exception-driven controls.</a:t>
          </a:r>
        </a:p>
      </dsp:txBody>
      <dsp:txXfrm>
        <a:off x="3870144" y="1804364"/>
        <a:ext cx="1645312" cy="719824"/>
      </dsp:txXfrm>
    </dsp:sp>
    <dsp:sp modelId="{2E7288EA-3F16-452B-B534-64B58C07FA64}">
      <dsp:nvSpPr>
        <dsp:cNvPr id="0" name=""/>
        <dsp:cNvSpPr/>
      </dsp:nvSpPr>
      <dsp:spPr>
        <a:xfrm>
          <a:off x="6255847" y="746340"/>
          <a:ext cx="740390" cy="74039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962F1D-A85F-4B89-BD29-D086E1032413}">
      <dsp:nvSpPr>
        <dsp:cNvPr id="0" name=""/>
        <dsp:cNvSpPr/>
      </dsp:nvSpPr>
      <dsp:spPr>
        <a:xfrm>
          <a:off x="5803387" y="1804364"/>
          <a:ext cx="1645312" cy="719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a:t>Outcomes Achieved</a:t>
          </a:r>
          <a:endParaRPr lang="en-US" sz="1100" kern="1200"/>
        </a:p>
      </dsp:txBody>
      <dsp:txXfrm>
        <a:off x="5803387" y="1804364"/>
        <a:ext cx="1645312" cy="719824"/>
      </dsp:txXfrm>
    </dsp:sp>
    <dsp:sp modelId="{7B002F85-A108-4DFB-A900-891C2E7C122D}">
      <dsp:nvSpPr>
        <dsp:cNvPr id="0" name=""/>
        <dsp:cNvSpPr/>
      </dsp:nvSpPr>
      <dsp:spPr>
        <a:xfrm>
          <a:off x="456121" y="2935517"/>
          <a:ext cx="740390" cy="74039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475AA7-9AB4-4082-8612-B1F9F5C1E2B4}">
      <dsp:nvSpPr>
        <dsp:cNvPr id="0" name=""/>
        <dsp:cNvSpPr/>
      </dsp:nvSpPr>
      <dsp:spPr>
        <a:xfrm>
          <a:off x="3660" y="3993541"/>
          <a:ext cx="1645312" cy="719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BOM accuracy: </a:t>
          </a:r>
          <a:r>
            <a:rPr lang="en-US" sz="1100" b="1" kern="1200"/>
            <a:t>&gt;99%</a:t>
          </a:r>
          <a:endParaRPr lang="en-US" sz="1100" kern="1200"/>
        </a:p>
      </dsp:txBody>
      <dsp:txXfrm>
        <a:off x="3660" y="3993541"/>
        <a:ext cx="1645312" cy="719824"/>
      </dsp:txXfrm>
    </dsp:sp>
    <dsp:sp modelId="{329164EC-AA45-4960-916D-47323785B316}">
      <dsp:nvSpPr>
        <dsp:cNvPr id="0" name=""/>
        <dsp:cNvSpPr/>
      </dsp:nvSpPr>
      <dsp:spPr>
        <a:xfrm>
          <a:off x="2389363" y="2935517"/>
          <a:ext cx="740390" cy="74039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C29E39-D533-4FF3-A82F-D2EA359C6BC4}">
      <dsp:nvSpPr>
        <dsp:cNvPr id="0" name=""/>
        <dsp:cNvSpPr/>
      </dsp:nvSpPr>
      <dsp:spPr>
        <a:xfrm>
          <a:off x="1936902" y="3993541"/>
          <a:ext cx="1645312" cy="719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Structural errors: </a:t>
          </a:r>
          <a:r>
            <a:rPr lang="en-US" sz="1100" b="1" kern="1200"/>
            <a:t>↓ 60%</a:t>
          </a:r>
          <a:endParaRPr lang="en-US" sz="1100" kern="1200"/>
        </a:p>
      </dsp:txBody>
      <dsp:txXfrm>
        <a:off x="1936902" y="3993541"/>
        <a:ext cx="1645312" cy="719824"/>
      </dsp:txXfrm>
    </dsp:sp>
    <dsp:sp modelId="{EACB1C83-68C8-42D4-B2F9-402CDE341D2D}">
      <dsp:nvSpPr>
        <dsp:cNvPr id="0" name=""/>
        <dsp:cNvSpPr/>
      </dsp:nvSpPr>
      <dsp:spPr>
        <a:xfrm>
          <a:off x="4322605" y="2935517"/>
          <a:ext cx="740390" cy="74039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DABB95-E80C-49A2-A404-A106CDF816F7}">
      <dsp:nvSpPr>
        <dsp:cNvPr id="0" name=""/>
        <dsp:cNvSpPr/>
      </dsp:nvSpPr>
      <dsp:spPr>
        <a:xfrm>
          <a:off x="3870144" y="3993541"/>
          <a:ext cx="1645312" cy="719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Service downtime: </a:t>
          </a:r>
          <a:r>
            <a:rPr lang="en-US" sz="1100" b="1" kern="1200"/>
            <a:t>↓ 30%</a:t>
          </a:r>
          <a:endParaRPr lang="en-US" sz="1100" kern="1200"/>
        </a:p>
      </dsp:txBody>
      <dsp:txXfrm>
        <a:off x="3870144" y="3993541"/>
        <a:ext cx="1645312" cy="719824"/>
      </dsp:txXfrm>
    </dsp:sp>
    <dsp:sp modelId="{B479931B-E5DF-4AC1-8506-2ACB5DE9A19D}">
      <dsp:nvSpPr>
        <dsp:cNvPr id="0" name=""/>
        <dsp:cNvSpPr/>
      </dsp:nvSpPr>
      <dsp:spPr>
        <a:xfrm>
          <a:off x="6255847" y="2935517"/>
          <a:ext cx="740390" cy="740390"/>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74C9BE-D98A-485F-86FE-9F628F2DC619}">
      <dsp:nvSpPr>
        <dsp:cNvPr id="0" name=""/>
        <dsp:cNvSpPr/>
      </dsp:nvSpPr>
      <dsp:spPr>
        <a:xfrm>
          <a:off x="5803387" y="3993541"/>
          <a:ext cx="1645312" cy="719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ECR cycle time: </a:t>
          </a:r>
          <a:r>
            <a:rPr lang="en-US" sz="1100" b="1" kern="1200"/>
            <a:t>↓ 28%</a:t>
          </a:r>
          <a:endParaRPr lang="en-US" sz="1100" kern="1200"/>
        </a:p>
      </dsp:txBody>
      <dsp:txXfrm>
        <a:off x="5803387" y="3993541"/>
        <a:ext cx="1645312" cy="71982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43BBAB-A54F-5D43-B5A8-CEB05E4DE8CB}" type="datetimeFigureOut">
              <a:rPr lang="en-US" smtClean="0"/>
              <a:t>5/12/25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6D1A68-05AC-D941-803C-51C08D739C14}" type="slidenum">
              <a:rPr lang="en-US" smtClean="0"/>
              <a:t>‹#›</a:t>
            </a:fld>
            <a:endParaRPr lang="en-US"/>
          </a:p>
        </p:txBody>
      </p:sp>
    </p:spTree>
    <p:extLst>
      <p:ext uri="{BB962C8B-B14F-4D97-AF65-F5344CB8AC3E}">
        <p14:creationId xmlns:p14="http://schemas.microsoft.com/office/powerpoint/2010/main" val="3180905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US" sz="2000" dirty="0"/>
              <a:t>I’ll walk you through a technical problem I’m especially proud to have solved — one that involved messy data, legacy structures, and cross-functional alignment.</a:t>
            </a:r>
            <a:br>
              <a:rPr lang="en-US" sz="2000" dirty="0"/>
            </a:br>
            <a:r>
              <a:rPr lang="en-US" sz="2000" dirty="0"/>
              <a:t>This project was centered around </a:t>
            </a:r>
            <a:r>
              <a:rPr lang="en-US" sz="2000" b="1" dirty="0"/>
              <a:t>improving </a:t>
            </a:r>
            <a:r>
              <a:rPr lang="en-US" sz="1800" b="1" dirty="0"/>
              <a:t>the integrity of service BOMs</a:t>
            </a:r>
            <a:r>
              <a:rPr lang="en-US" sz="1800" dirty="0"/>
              <a:t> across four vehicle platforms at Daimler Trucks.</a:t>
            </a:r>
            <a:br>
              <a:rPr lang="en-US" sz="1800" dirty="0"/>
            </a:br>
            <a:r>
              <a:rPr lang="en-US" sz="1800" dirty="0"/>
              <a:t>While it started as a documentation issue, it became much more about </a:t>
            </a:r>
            <a:r>
              <a:rPr lang="en-US" sz="1800" b="1" dirty="0"/>
              <a:t>ensuring reliability, service uptime, and engineering traceability</a:t>
            </a:r>
            <a:r>
              <a:rPr lang="en-US" sz="1800" dirty="0"/>
              <a:t> — critical elements in high-performance operations like Tesla’s.”</a:t>
            </a:r>
          </a:p>
        </p:txBody>
      </p:sp>
      <p:sp>
        <p:nvSpPr>
          <p:cNvPr id="4" name="Slide Number Placeholder 3"/>
          <p:cNvSpPr>
            <a:spLocks noGrp="1"/>
          </p:cNvSpPr>
          <p:nvPr>
            <p:ph type="sldNum" sz="quarter" idx="5"/>
          </p:nvPr>
        </p:nvSpPr>
        <p:spPr/>
        <p:txBody>
          <a:bodyPr/>
          <a:lstStyle/>
          <a:p>
            <a:fld id="{106D1A68-05AC-D941-803C-51C08D739C14}" type="slidenum">
              <a:rPr lang="en-US" smtClean="0"/>
              <a:t>1</a:t>
            </a:fld>
            <a:endParaRPr lang="en-US"/>
          </a:p>
        </p:txBody>
      </p:sp>
    </p:spTree>
    <p:extLst>
      <p:ext uri="{BB962C8B-B14F-4D97-AF65-F5344CB8AC3E}">
        <p14:creationId xmlns:p14="http://schemas.microsoft.com/office/powerpoint/2010/main" val="4065643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what we were losing. Every hour a truck is down can cost between </a:t>
            </a:r>
            <a:r>
              <a:rPr lang="en-US" b="1" dirty="0"/>
              <a:t>$1.2K–$1.5K</a:t>
            </a:r>
            <a:r>
              <a:rPr lang="en-US" dirty="0"/>
              <a:t>, especially for commercial fleets.</a:t>
            </a:r>
            <a:br>
              <a:rPr lang="en-US" dirty="0"/>
            </a:br>
            <a:r>
              <a:rPr lang="en-US" dirty="0"/>
              <a:t>We were seeing service delays of over </a:t>
            </a:r>
            <a:r>
              <a:rPr lang="en-US" b="1" dirty="0"/>
              <a:t>4.5 hours</a:t>
            </a:r>
            <a:r>
              <a:rPr lang="en-US" dirty="0"/>
              <a:t> on average per part mismatch — and more than </a:t>
            </a:r>
            <a:r>
              <a:rPr lang="en-US" b="1" dirty="0"/>
              <a:t>$250,000/year</a:t>
            </a:r>
            <a:r>
              <a:rPr lang="en-US" dirty="0"/>
              <a:t> in downtime losses traceable to one thing: </a:t>
            </a:r>
            <a:r>
              <a:rPr lang="en-US" b="1" dirty="0"/>
              <a:t>incorrect or incomplete BOMs</a:t>
            </a:r>
            <a:r>
              <a:rPr lang="en-US" dirty="0"/>
              <a:t>.</a:t>
            </a:r>
            <a:br>
              <a:rPr lang="en-US" dirty="0"/>
            </a:br>
            <a:r>
              <a:rPr lang="en-US" dirty="0"/>
              <a:t>This wasn’t abstract. In our Q2’22 global service audit, BOM mismatches were listed as the </a:t>
            </a:r>
            <a:r>
              <a:rPr lang="en-US" b="1" dirty="0"/>
              <a:t>#1 root cause</a:t>
            </a:r>
            <a:r>
              <a:rPr lang="en-US" dirty="0"/>
              <a:t> of service escalations.</a:t>
            </a:r>
            <a:br>
              <a:rPr lang="en-US" dirty="0"/>
            </a:br>
            <a:r>
              <a:rPr lang="en-US" dirty="0"/>
              <a:t>So the business impact was very real — lost time, customer frustration, and internal fire drills.”</a:t>
            </a:r>
          </a:p>
          <a:p>
            <a:endParaRPr lang="en-US" dirty="0"/>
          </a:p>
          <a:p>
            <a:r>
              <a:rPr lang="en-US" dirty="0"/>
              <a:t>We weren’t just dealing with minor errors. We had a </a:t>
            </a:r>
            <a:r>
              <a:rPr lang="en-US" b="1" dirty="0"/>
              <a:t>3-month backlog</a:t>
            </a:r>
            <a:r>
              <a:rPr lang="en-US" dirty="0"/>
              <a:t> for legacy variants, and </a:t>
            </a:r>
            <a:r>
              <a:rPr lang="en-US" b="1" dirty="0"/>
              <a:t>30+ field escalations every month</a:t>
            </a:r>
            <a:r>
              <a:rPr lang="en-US" dirty="0"/>
              <a:t> due to missing part info or broken BOM structures.</a:t>
            </a:r>
            <a:br>
              <a:rPr lang="en-US" dirty="0"/>
            </a:br>
            <a:r>
              <a:rPr lang="en-US" dirty="0"/>
              <a:t>The burning platform was:</a:t>
            </a:r>
          </a:p>
          <a:p>
            <a:pPr>
              <a:buFont typeface="Arial" panose="020B0604020202020204" pitchFamily="34" charset="0"/>
              <a:buChar char="•"/>
            </a:pPr>
            <a:r>
              <a:rPr lang="en-US" dirty="0"/>
              <a:t>Engineers were submitting ECRs, but the changes weren’t reflected in Service BOMs</a:t>
            </a:r>
          </a:p>
          <a:p>
            <a:pPr>
              <a:buFont typeface="Arial" panose="020B0604020202020204" pitchFamily="34" charset="0"/>
              <a:buChar char="•"/>
            </a:pPr>
            <a:r>
              <a:rPr lang="en-US" dirty="0"/>
              <a:t>Service teams couldn’t trust the structure, so they escalated instead of executing</a:t>
            </a:r>
            <a:br>
              <a:rPr lang="en-US" dirty="0"/>
            </a:br>
            <a:r>
              <a:rPr lang="en-US" dirty="0"/>
              <a:t>So we set a clear, quantified goal:</a:t>
            </a:r>
          </a:p>
          <a:p>
            <a:pPr>
              <a:buFont typeface="Arial" panose="020B0604020202020204" pitchFamily="34" charset="0"/>
              <a:buChar char="•"/>
            </a:pPr>
            <a:r>
              <a:rPr lang="en-US" b="1" dirty="0"/>
              <a:t>&gt;95% BOM accuracy</a:t>
            </a:r>
            <a:endParaRPr lang="en-US" dirty="0"/>
          </a:p>
          <a:p>
            <a:pPr>
              <a:buFont typeface="Arial" panose="020B0604020202020204" pitchFamily="34" charset="0"/>
              <a:buChar char="•"/>
            </a:pPr>
            <a:r>
              <a:rPr lang="en-US" b="1" dirty="0"/>
              <a:t>70% reduction in downtime-related escalations</a:t>
            </a:r>
            <a:endParaRPr lang="en-US" dirty="0"/>
          </a:p>
          <a:p>
            <a:pPr>
              <a:buFont typeface="Arial" panose="020B0604020202020204" pitchFamily="34" charset="0"/>
              <a:buChar char="•"/>
            </a:pPr>
            <a:r>
              <a:rPr lang="en-US" b="1" dirty="0"/>
              <a:t>25% faster implementation of engineering changes</a:t>
            </a:r>
            <a:r>
              <a:rPr lang="en-US" dirty="0"/>
              <a:t>”</a:t>
            </a:r>
          </a:p>
          <a:p>
            <a:endParaRPr lang="en-US" dirty="0"/>
          </a:p>
        </p:txBody>
      </p:sp>
      <p:sp>
        <p:nvSpPr>
          <p:cNvPr id="4" name="Slide Number Placeholder 3"/>
          <p:cNvSpPr>
            <a:spLocks noGrp="1"/>
          </p:cNvSpPr>
          <p:nvPr>
            <p:ph type="sldNum" sz="quarter" idx="5"/>
          </p:nvPr>
        </p:nvSpPr>
        <p:spPr/>
        <p:txBody>
          <a:bodyPr/>
          <a:lstStyle/>
          <a:p>
            <a:fld id="{106D1A68-05AC-D941-803C-51C08D739C14}" type="slidenum">
              <a:rPr lang="en-US" smtClean="0"/>
              <a:t>2</a:t>
            </a:fld>
            <a:endParaRPr lang="en-US"/>
          </a:p>
        </p:txBody>
      </p:sp>
    </p:spTree>
    <p:extLst>
      <p:ext uri="{BB962C8B-B14F-4D97-AF65-F5344CB8AC3E}">
        <p14:creationId xmlns:p14="http://schemas.microsoft.com/office/powerpoint/2010/main" val="253838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were dealing with complexity at scale.</a:t>
            </a:r>
          </a:p>
          <a:p>
            <a:pPr>
              <a:buFont typeface="Arial" panose="020B0604020202020204" pitchFamily="34" charset="0"/>
              <a:buChar char="•"/>
            </a:pPr>
            <a:r>
              <a:rPr lang="en-US" dirty="0"/>
              <a:t>Each vehicle had </a:t>
            </a:r>
            <a:r>
              <a:rPr lang="en-US" b="1" dirty="0"/>
              <a:t>800+ unique parts</a:t>
            </a:r>
            <a:endParaRPr lang="en-US" dirty="0"/>
          </a:p>
          <a:p>
            <a:pPr>
              <a:buFont typeface="Arial" panose="020B0604020202020204" pitchFamily="34" charset="0"/>
              <a:buChar char="•"/>
            </a:pPr>
            <a:r>
              <a:rPr lang="en-US" dirty="0"/>
              <a:t>Spread across </a:t>
            </a:r>
            <a:r>
              <a:rPr lang="en-US" b="1" dirty="0"/>
              <a:t>4 platforms</a:t>
            </a:r>
            <a:r>
              <a:rPr lang="en-US" dirty="0"/>
              <a:t> and </a:t>
            </a:r>
            <a:r>
              <a:rPr lang="en-US" b="1" dirty="0"/>
              <a:t>3 production regions</a:t>
            </a:r>
            <a:br>
              <a:rPr lang="en-US" dirty="0"/>
            </a:br>
            <a:r>
              <a:rPr lang="en-US" dirty="0"/>
              <a:t>What made it challenging was that </a:t>
            </a:r>
            <a:r>
              <a:rPr lang="en-US" b="1" dirty="0"/>
              <a:t>Factory BOMs and Service BOMs lived in separate views</a:t>
            </a:r>
            <a:r>
              <a:rPr lang="en-US" dirty="0"/>
              <a:t>, and changes weren’t always cascaded properly.</a:t>
            </a:r>
            <a:br>
              <a:rPr lang="en-US" dirty="0"/>
            </a:br>
            <a:r>
              <a:rPr lang="en-US" dirty="0"/>
              <a:t>So a structural mismatch — like a part missing a parent or incorrectly grouped — wouldn’t just be invisible, it would actively lead to wrong part orders or missed service dependencies.</a:t>
            </a:r>
            <a:br>
              <a:rPr lang="en-US" dirty="0"/>
            </a:br>
            <a:r>
              <a:rPr lang="en-US" dirty="0"/>
              <a:t>We gathered baseline metrics from Teamcenter, SAP, and ticket escalation logs — and that helped set a foundation to measure improvement.”</a:t>
            </a:r>
          </a:p>
          <a:p>
            <a:endParaRPr lang="en-US" dirty="0"/>
          </a:p>
        </p:txBody>
      </p:sp>
      <p:sp>
        <p:nvSpPr>
          <p:cNvPr id="4" name="Slide Number Placeholder 3"/>
          <p:cNvSpPr>
            <a:spLocks noGrp="1"/>
          </p:cNvSpPr>
          <p:nvPr>
            <p:ph type="sldNum" sz="quarter" idx="5"/>
          </p:nvPr>
        </p:nvSpPr>
        <p:spPr/>
        <p:txBody>
          <a:bodyPr/>
          <a:lstStyle/>
          <a:p>
            <a:fld id="{106D1A68-05AC-D941-803C-51C08D739C14}" type="slidenum">
              <a:rPr lang="en-US" smtClean="0"/>
              <a:t>3</a:t>
            </a:fld>
            <a:endParaRPr lang="en-US"/>
          </a:p>
        </p:txBody>
      </p:sp>
    </p:spTree>
    <p:extLst>
      <p:ext uri="{BB962C8B-B14F-4D97-AF65-F5344CB8AC3E}">
        <p14:creationId xmlns:p14="http://schemas.microsoft.com/office/powerpoint/2010/main" val="958634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turning point — identifying what was </a:t>
            </a:r>
            <a:r>
              <a:rPr lang="en-US" b="1" dirty="0"/>
              <a:t>really causing</a:t>
            </a:r>
            <a:r>
              <a:rPr lang="en-US" dirty="0"/>
              <a:t> the errors.</a:t>
            </a:r>
            <a:br>
              <a:rPr lang="en-US" dirty="0"/>
            </a:br>
            <a:r>
              <a:rPr lang="en-US" dirty="0"/>
              <a:t>Using data from field escalation tickets, audit logs, and system reports, we found:</a:t>
            </a:r>
          </a:p>
          <a:p>
            <a:pPr>
              <a:buFont typeface="Arial" panose="020B0604020202020204" pitchFamily="34" charset="0"/>
              <a:buChar char="•"/>
            </a:pPr>
            <a:r>
              <a:rPr lang="en-US" b="1" dirty="0"/>
              <a:t>60%</a:t>
            </a:r>
            <a:r>
              <a:rPr lang="en-US" dirty="0"/>
              <a:t> of issues came from </a:t>
            </a:r>
            <a:r>
              <a:rPr lang="en-US" b="1" dirty="0"/>
              <a:t>structural mismatches</a:t>
            </a:r>
            <a:r>
              <a:rPr lang="en-US" dirty="0"/>
              <a:t> — wrong nesting, missing levels, or flat BOMs</a:t>
            </a:r>
          </a:p>
          <a:p>
            <a:pPr>
              <a:buFont typeface="Arial" panose="020B0604020202020204" pitchFamily="34" charset="0"/>
              <a:buChar char="•"/>
            </a:pPr>
            <a:r>
              <a:rPr lang="en-US" b="1" dirty="0"/>
              <a:t>35%</a:t>
            </a:r>
            <a:r>
              <a:rPr lang="en-US" dirty="0"/>
              <a:t> of ECRs were </a:t>
            </a:r>
            <a:r>
              <a:rPr lang="en-US" b="1" dirty="0"/>
              <a:t>never reflected</a:t>
            </a:r>
            <a:r>
              <a:rPr lang="en-US" dirty="0"/>
              <a:t> in the service BOM — meaning engineering thought it was done, but it hadn’t reached downstream</a:t>
            </a:r>
          </a:p>
          <a:p>
            <a:pPr>
              <a:buFont typeface="Arial" panose="020B0604020202020204" pitchFamily="34" charset="0"/>
              <a:buChar char="•"/>
            </a:pPr>
            <a:r>
              <a:rPr lang="en-US" b="1" dirty="0"/>
              <a:t>20%</a:t>
            </a:r>
            <a:r>
              <a:rPr lang="en-US" dirty="0"/>
              <a:t> were </a:t>
            </a:r>
            <a:r>
              <a:rPr lang="en-US" b="1" dirty="0"/>
              <a:t>supersession mismatches</a:t>
            </a:r>
            <a:r>
              <a:rPr lang="en-US" dirty="0"/>
              <a:t> — old parts still in BOMs even after being replaced</a:t>
            </a:r>
            <a:br>
              <a:rPr lang="en-US" dirty="0"/>
            </a:br>
            <a:r>
              <a:rPr lang="en-US" dirty="0"/>
              <a:t>These three problems caused over </a:t>
            </a:r>
            <a:r>
              <a:rPr lang="en-US" b="1" dirty="0"/>
              <a:t>75% of BOM failures</a:t>
            </a:r>
            <a:r>
              <a:rPr lang="en-US" dirty="0"/>
              <a:t>, and they were cross-system: PLM (Teamcenter) didn’t always sync properly with ERP (SAP), and governance was loose.”</a:t>
            </a:r>
          </a:p>
          <a:p>
            <a:endParaRPr lang="en-US" dirty="0"/>
          </a:p>
        </p:txBody>
      </p:sp>
      <p:sp>
        <p:nvSpPr>
          <p:cNvPr id="4" name="Slide Number Placeholder 3"/>
          <p:cNvSpPr>
            <a:spLocks noGrp="1"/>
          </p:cNvSpPr>
          <p:nvPr>
            <p:ph type="sldNum" sz="quarter" idx="5"/>
          </p:nvPr>
        </p:nvSpPr>
        <p:spPr/>
        <p:txBody>
          <a:bodyPr/>
          <a:lstStyle/>
          <a:p>
            <a:fld id="{106D1A68-05AC-D941-803C-51C08D739C14}" type="slidenum">
              <a:rPr lang="en-US" smtClean="0"/>
              <a:t>4</a:t>
            </a:fld>
            <a:endParaRPr lang="en-US"/>
          </a:p>
        </p:txBody>
      </p:sp>
    </p:spTree>
    <p:extLst>
      <p:ext uri="{BB962C8B-B14F-4D97-AF65-F5344CB8AC3E}">
        <p14:creationId xmlns:p14="http://schemas.microsoft.com/office/powerpoint/2010/main" val="187438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we got surgical. I didn’t introduce new tools — I optimized what existed.</a:t>
            </a:r>
          </a:p>
          <a:p>
            <a:pPr>
              <a:buFont typeface="Arial" panose="020B0604020202020204" pitchFamily="34" charset="0"/>
              <a:buChar char="•"/>
            </a:pPr>
            <a:r>
              <a:rPr lang="en-US" dirty="0"/>
              <a:t>In </a:t>
            </a:r>
            <a:r>
              <a:rPr lang="en-US" b="1" dirty="0"/>
              <a:t>Teamcenter</a:t>
            </a:r>
            <a:r>
              <a:rPr lang="en-US" dirty="0"/>
              <a:t>, I implemented </a:t>
            </a:r>
            <a:r>
              <a:rPr lang="en-US" b="1" dirty="0"/>
              <a:t>validation gates</a:t>
            </a:r>
            <a:r>
              <a:rPr lang="en-US" dirty="0"/>
              <a:t> to flag structural issues before release. That stopped the worst mismatches.</a:t>
            </a:r>
          </a:p>
          <a:p>
            <a:pPr>
              <a:buFont typeface="Arial" panose="020B0604020202020204" pitchFamily="34" charset="0"/>
              <a:buChar char="•"/>
            </a:pPr>
            <a:r>
              <a:rPr lang="en-US" dirty="0"/>
              <a:t>We </a:t>
            </a:r>
            <a:r>
              <a:rPr lang="en-US" b="1" dirty="0"/>
              <a:t>standardized BOM templates</a:t>
            </a:r>
            <a:r>
              <a:rPr lang="en-US" dirty="0"/>
              <a:t> across service platforms — creating consistent parent-child nesting that engineers could follow</a:t>
            </a:r>
          </a:p>
          <a:p>
            <a:pPr>
              <a:buFont typeface="Arial" panose="020B0604020202020204" pitchFamily="34" charset="0"/>
              <a:buChar char="•"/>
            </a:pPr>
            <a:r>
              <a:rPr lang="en-US" dirty="0"/>
              <a:t>I worked with the </a:t>
            </a:r>
            <a:r>
              <a:rPr lang="en-US" b="1" dirty="0"/>
              <a:t>SAP team to clean up 500+ supersession chains</a:t>
            </a:r>
            <a:r>
              <a:rPr lang="en-US" dirty="0"/>
              <a:t>, correcting legacy part mappings</a:t>
            </a:r>
          </a:p>
          <a:p>
            <a:pPr>
              <a:buFont typeface="Arial" panose="020B0604020202020204" pitchFamily="34" charset="0"/>
              <a:buChar char="•"/>
            </a:pPr>
            <a:r>
              <a:rPr lang="en-US" dirty="0"/>
              <a:t>And we introduced </a:t>
            </a:r>
            <a:r>
              <a:rPr lang="en-US" b="1" dirty="0"/>
              <a:t>exception reports</a:t>
            </a:r>
            <a:r>
              <a:rPr lang="en-US" dirty="0"/>
              <a:t>: if a revision didn’t propagate from an ECR to the service BOM, it got flagged within 48 hours</a:t>
            </a:r>
            <a:br>
              <a:rPr lang="en-US" dirty="0"/>
            </a:br>
            <a:r>
              <a:rPr lang="en-US" dirty="0"/>
              <a:t>These actions weren’t just patches — they created </a:t>
            </a:r>
            <a:r>
              <a:rPr lang="en-US" b="1" dirty="0"/>
              <a:t>repeatable enforcement</a:t>
            </a:r>
            <a:r>
              <a:rPr lang="en-US" dirty="0"/>
              <a:t>.”</a:t>
            </a:r>
          </a:p>
          <a:p>
            <a:br>
              <a:rPr lang="en-US" dirty="0"/>
            </a:br>
            <a:r>
              <a:rPr lang="en-US" dirty="0"/>
              <a:t>“We used Teamcenter’s workflow preconditions and custom validation handlers to enforce rules like structure completeness, proper nesting, and revision propagation. These checks ran before release approval, acting as quality gates that blocked incomplete BOMs from going live.”</a:t>
            </a:r>
          </a:p>
        </p:txBody>
      </p:sp>
      <p:sp>
        <p:nvSpPr>
          <p:cNvPr id="4" name="Slide Number Placeholder 3"/>
          <p:cNvSpPr>
            <a:spLocks noGrp="1"/>
          </p:cNvSpPr>
          <p:nvPr>
            <p:ph type="sldNum" sz="quarter" idx="5"/>
          </p:nvPr>
        </p:nvSpPr>
        <p:spPr/>
        <p:txBody>
          <a:bodyPr/>
          <a:lstStyle/>
          <a:p>
            <a:fld id="{106D1A68-05AC-D941-803C-51C08D739C14}" type="slidenum">
              <a:rPr lang="en-US" smtClean="0"/>
              <a:t>5</a:t>
            </a:fld>
            <a:endParaRPr lang="en-US"/>
          </a:p>
        </p:txBody>
      </p:sp>
    </p:spTree>
    <p:extLst>
      <p:ext uri="{BB962C8B-B14F-4D97-AF65-F5344CB8AC3E}">
        <p14:creationId xmlns:p14="http://schemas.microsoft.com/office/powerpoint/2010/main" val="823380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“Improvements only matter if you can sustain them.</a:t>
            </a:r>
            <a:br>
              <a:rPr lang="en-US" dirty="0"/>
            </a:br>
            <a:r>
              <a:rPr lang="en-US" dirty="0"/>
              <a:t>Here’s how we did that:</a:t>
            </a:r>
          </a:p>
          <a:p>
            <a:pPr>
              <a:buFont typeface="Arial" panose="020B0604020202020204" pitchFamily="34" charset="0"/>
              <a:buChar char="•"/>
            </a:pPr>
            <a:r>
              <a:rPr lang="en-US" b="1" dirty="0"/>
              <a:t>Validation checkpoints</a:t>
            </a:r>
            <a:r>
              <a:rPr lang="en-US" dirty="0"/>
              <a:t> in Teamcenter stopped incomplete BOMs from being approved</a:t>
            </a:r>
          </a:p>
          <a:p>
            <a:pPr>
              <a:buFont typeface="Arial" panose="020B0604020202020204" pitchFamily="34" charset="0"/>
              <a:buChar char="•"/>
            </a:pPr>
            <a:r>
              <a:rPr lang="en-US" b="1" dirty="0"/>
              <a:t>SAP exception monitoring</a:t>
            </a:r>
            <a:r>
              <a:rPr lang="en-US" dirty="0"/>
              <a:t> alerted us to broken or missing links</a:t>
            </a:r>
          </a:p>
          <a:p>
            <a:pPr>
              <a:buFont typeface="Arial" panose="020B0604020202020204" pitchFamily="34" charset="0"/>
              <a:buChar char="•"/>
            </a:pPr>
            <a:r>
              <a:rPr lang="en-US" dirty="0"/>
              <a:t>I set up a </a:t>
            </a:r>
            <a:r>
              <a:rPr lang="en-US" b="1" dirty="0"/>
              <a:t>monthly triage review</a:t>
            </a:r>
            <a:r>
              <a:rPr lang="en-US" dirty="0"/>
              <a:t> with Engineering, Service, and Supply Chain to focus on the 5% riskiest assemblies</a:t>
            </a:r>
          </a:p>
          <a:p>
            <a:pPr>
              <a:buFont typeface="Arial" panose="020B0604020202020204" pitchFamily="34" charset="0"/>
              <a:buChar char="•"/>
            </a:pPr>
            <a:r>
              <a:rPr lang="en-US" dirty="0"/>
              <a:t>And we created a </a:t>
            </a:r>
            <a:r>
              <a:rPr lang="en-US" b="1" dirty="0"/>
              <a:t>closed-loop feedback system</a:t>
            </a:r>
            <a:r>
              <a:rPr lang="en-US" dirty="0"/>
              <a:t> where field technicians could submit BOM issues directly via structured inputs in Teamcenter — those went into tracked change requests</a:t>
            </a:r>
            <a:br>
              <a:rPr lang="en-US" dirty="0"/>
            </a:br>
            <a:r>
              <a:rPr lang="en-US" dirty="0"/>
              <a:t>This kept accuracy above </a:t>
            </a:r>
            <a:r>
              <a:rPr lang="en-US" b="1" dirty="0"/>
              <a:t>99%</a:t>
            </a:r>
            <a:r>
              <a:rPr lang="en-US" dirty="0"/>
              <a:t> and prevented errors from reappearing.”</a:t>
            </a:r>
          </a:p>
          <a:p>
            <a:endParaRPr lang="en-US" dirty="0"/>
          </a:p>
        </p:txBody>
      </p:sp>
      <p:sp>
        <p:nvSpPr>
          <p:cNvPr id="4" name="Slide Number Placeholder 3"/>
          <p:cNvSpPr>
            <a:spLocks noGrp="1"/>
          </p:cNvSpPr>
          <p:nvPr>
            <p:ph type="sldNum" sz="quarter" idx="5"/>
          </p:nvPr>
        </p:nvSpPr>
        <p:spPr/>
        <p:txBody>
          <a:bodyPr/>
          <a:lstStyle/>
          <a:p>
            <a:fld id="{106D1A68-05AC-D941-803C-51C08D739C14}" type="slidenum">
              <a:rPr lang="en-US" smtClean="0"/>
              <a:t>6</a:t>
            </a:fld>
            <a:endParaRPr lang="en-US"/>
          </a:p>
        </p:txBody>
      </p:sp>
    </p:spTree>
    <p:extLst>
      <p:ext uri="{BB962C8B-B14F-4D97-AF65-F5344CB8AC3E}">
        <p14:creationId xmlns:p14="http://schemas.microsoft.com/office/powerpoint/2010/main" val="31746623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results:</a:t>
            </a:r>
          </a:p>
          <a:p>
            <a:pPr>
              <a:buFont typeface="Arial" panose="020B0604020202020204" pitchFamily="34" charset="0"/>
              <a:buChar char="•"/>
            </a:pPr>
            <a:r>
              <a:rPr lang="en-US" dirty="0"/>
              <a:t>BOM structural errors were reduced by </a:t>
            </a:r>
            <a:r>
              <a:rPr lang="en-US" b="1" dirty="0"/>
              <a:t>60%</a:t>
            </a:r>
            <a:endParaRPr lang="en-US" dirty="0"/>
          </a:p>
          <a:p>
            <a:pPr>
              <a:buFont typeface="Arial" panose="020B0604020202020204" pitchFamily="34" charset="0"/>
              <a:buChar char="•"/>
            </a:pPr>
            <a:r>
              <a:rPr lang="en-US" dirty="0"/>
              <a:t>Downtime dropped by </a:t>
            </a:r>
            <a:r>
              <a:rPr lang="en-US" b="1" dirty="0"/>
              <a:t>30%</a:t>
            </a:r>
            <a:r>
              <a:rPr lang="en-US" dirty="0"/>
              <a:t>, with field escalations significantly reduced</a:t>
            </a:r>
          </a:p>
          <a:p>
            <a:pPr>
              <a:buFont typeface="Arial" panose="020B0604020202020204" pitchFamily="34" charset="0"/>
              <a:buChar char="•"/>
            </a:pPr>
            <a:r>
              <a:rPr lang="en-US" dirty="0"/>
              <a:t>ECR implementation time went from </a:t>
            </a:r>
            <a:r>
              <a:rPr lang="en-US" b="1" dirty="0"/>
              <a:t>7 to 5 days</a:t>
            </a:r>
            <a:endParaRPr lang="en-US" dirty="0"/>
          </a:p>
          <a:p>
            <a:pPr>
              <a:buFont typeface="Arial" panose="020B0604020202020204" pitchFamily="34" charset="0"/>
              <a:buChar char="•"/>
            </a:pPr>
            <a:r>
              <a:rPr lang="en-US" dirty="0"/>
              <a:t>And most importantly, we hit and </a:t>
            </a:r>
            <a:r>
              <a:rPr lang="en-US" b="1" dirty="0"/>
              <a:t>sustained &gt;99% BOM accuracy</a:t>
            </a:r>
            <a:br>
              <a:rPr lang="en-US" dirty="0"/>
            </a:br>
            <a:r>
              <a:rPr lang="en-US" dirty="0"/>
              <a:t>These changes were measurable, repeatable, and visible in our quarterly metrics.”</a:t>
            </a:r>
          </a:p>
          <a:p>
            <a:br>
              <a:rPr lang="en-US" dirty="0"/>
            </a:br>
            <a:r>
              <a:rPr lang="en-US" dirty="0"/>
              <a:t>“This started as a cleanup exercise, but it became much more about building structural reliability — making sure the system, not just the part, is trustworthy.</a:t>
            </a:r>
            <a:br>
              <a:rPr lang="en-US" dirty="0"/>
            </a:br>
            <a:r>
              <a:rPr lang="en-US" dirty="0"/>
              <a:t>In environments like Tesla, where precision, uptime, and speed define success, </a:t>
            </a:r>
            <a:r>
              <a:rPr lang="en-US" b="1" dirty="0"/>
              <a:t>clean foundational systems like BOMs are mission-critical</a:t>
            </a:r>
            <a:r>
              <a:rPr lang="en-US" dirty="0"/>
              <a:t>.</a:t>
            </a:r>
          </a:p>
          <a:p>
            <a:r>
              <a:rPr lang="en-US" dirty="0"/>
              <a:t>As I like to say, ‘Even a 1% improvement in BOM quality can prevent thousands in losses.’</a:t>
            </a:r>
            <a:br>
              <a:rPr lang="en-US" dirty="0"/>
            </a:br>
            <a:r>
              <a:rPr lang="en-US" dirty="0"/>
              <a:t>My role was to bring that 1% — and more — by fixing what matters most: </a:t>
            </a:r>
            <a:r>
              <a:rPr lang="en-US" b="1" dirty="0"/>
              <a:t>the foundation beneath every operation.</a:t>
            </a:r>
            <a:br>
              <a:rPr lang="en-US" dirty="0"/>
            </a:br>
            <a:r>
              <a:rPr lang="en-US" dirty="0"/>
              <a:t>Thank you — I’d love to answer your questions.”</a:t>
            </a:r>
          </a:p>
          <a:p>
            <a:endParaRPr lang="en-US" dirty="0"/>
          </a:p>
        </p:txBody>
      </p:sp>
      <p:sp>
        <p:nvSpPr>
          <p:cNvPr id="4" name="Slide Number Placeholder 3"/>
          <p:cNvSpPr>
            <a:spLocks noGrp="1"/>
          </p:cNvSpPr>
          <p:nvPr>
            <p:ph type="sldNum" sz="quarter" idx="5"/>
          </p:nvPr>
        </p:nvSpPr>
        <p:spPr/>
        <p:txBody>
          <a:bodyPr/>
          <a:lstStyle/>
          <a:p>
            <a:fld id="{106D1A68-05AC-D941-803C-51C08D739C14}" type="slidenum">
              <a:rPr lang="en-US" smtClean="0"/>
              <a:t>7</a:t>
            </a:fld>
            <a:endParaRPr lang="en-US"/>
          </a:p>
        </p:txBody>
      </p:sp>
    </p:spTree>
    <p:extLst>
      <p:ext uri="{BB962C8B-B14F-4D97-AF65-F5344CB8AC3E}">
        <p14:creationId xmlns:p14="http://schemas.microsoft.com/office/powerpoint/2010/main" val="716730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0E97A-B090-0A13-3454-A25B75A9CB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FECCD69-2607-9C03-8B7A-01BCD70013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875F1C3-0A16-5C3D-2563-A7E0492CE20B}"/>
              </a:ext>
            </a:extLst>
          </p:cNvPr>
          <p:cNvSpPr>
            <a:spLocks noGrp="1"/>
          </p:cNvSpPr>
          <p:nvPr>
            <p:ph type="dt" sz="half" idx="10"/>
          </p:nvPr>
        </p:nvSpPr>
        <p:spPr/>
        <p:txBody>
          <a:bodyPr/>
          <a:lstStyle/>
          <a:p>
            <a:fld id="{2DD93553-CBF2-D84F-8220-6678E7A16D6F}" type="datetimeFigureOut">
              <a:rPr lang="en-US" smtClean="0"/>
              <a:t>5/12/25</a:t>
            </a:fld>
            <a:endParaRPr lang="en-US"/>
          </a:p>
        </p:txBody>
      </p:sp>
      <p:sp>
        <p:nvSpPr>
          <p:cNvPr id="5" name="Footer Placeholder 4">
            <a:extLst>
              <a:ext uri="{FF2B5EF4-FFF2-40B4-BE49-F238E27FC236}">
                <a16:creationId xmlns:a16="http://schemas.microsoft.com/office/drawing/2014/main" id="{B1D3598B-2D26-B33E-5CCA-10EC413AFD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FFA89C-FFA0-9F44-D534-BAADBC23DD94}"/>
              </a:ext>
            </a:extLst>
          </p:cNvPr>
          <p:cNvSpPr>
            <a:spLocks noGrp="1"/>
          </p:cNvSpPr>
          <p:nvPr>
            <p:ph type="sldNum" sz="quarter" idx="12"/>
          </p:nvPr>
        </p:nvSpPr>
        <p:spPr/>
        <p:txBody>
          <a:bodyPr/>
          <a:lstStyle/>
          <a:p>
            <a:fld id="{46276D20-DC6D-F84B-9343-2C06D41109E6}" type="slidenum">
              <a:rPr lang="en-US" smtClean="0"/>
              <a:t>‹#›</a:t>
            </a:fld>
            <a:endParaRPr lang="en-US"/>
          </a:p>
        </p:txBody>
      </p:sp>
    </p:spTree>
    <p:extLst>
      <p:ext uri="{BB962C8B-B14F-4D97-AF65-F5344CB8AC3E}">
        <p14:creationId xmlns:p14="http://schemas.microsoft.com/office/powerpoint/2010/main" val="3204724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0333E-8295-872C-1007-3B305EDBC5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CA5B85-F0E4-67A8-C38D-179704FC50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9B6869-4883-5E98-2AF6-BFE2C9788A90}"/>
              </a:ext>
            </a:extLst>
          </p:cNvPr>
          <p:cNvSpPr>
            <a:spLocks noGrp="1"/>
          </p:cNvSpPr>
          <p:nvPr>
            <p:ph type="dt" sz="half" idx="10"/>
          </p:nvPr>
        </p:nvSpPr>
        <p:spPr/>
        <p:txBody>
          <a:bodyPr/>
          <a:lstStyle/>
          <a:p>
            <a:fld id="{2DD93553-CBF2-D84F-8220-6678E7A16D6F}" type="datetimeFigureOut">
              <a:rPr lang="en-US" smtClean="0"/>
              <a:t>5/12/25</a:t>
            </a:fld>
            <a:endParaRPr lang="en-US"/>
          </a:p>
        </p:txBody>
      </p:sp>
      <p:sp>
        <p:nvSpPr>
          <p:cNvPr id="5" name="Footer Placeholder 4">
            <a:extLst>
              <a:ext uri="{FF2B5EF4-FFF2-40B4-BE49-F238E27FC236}">
                <a16:creationId xmlns:a16="http://schemas.microsoft.com/office/drawing/2014/main" id="{91543EFD-C278-FD7F-DAC6-56CCCED2B3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0EA380-2C0D-1918-3FC7-C100E6A143B0}"/>
              </a:ext>
            </a:extLst>
          </p:cNvPr>
          <p:cNvSpPr>
            <a:spLocks noGrp="1"/>
          </p:cNvSpPr>
          <p:nvPr>
            <p:ph type="sldNum" sz="quarter" idx="12"/>
          </p:nvPr>
        </p:nvSpPr>
        <p:spPr/>
        <p:txBody>
          <a:bodyPr/>
          <a:lstStyle/>
          <a:p>
            <a:fld id="{46276D20-DC6D-F84B-9343-2C06D41109E6}" type="slidenum">
              <a:rPr lang="en-US" smtClean="0"/>
              <a:t>‹#›</a:t>
            </a:fld>
            <a:endParaRPr lang="en-US"/>
          </a:p>
        </p:txBody>
      </p:sp>
    </p:spTree>
    <p:extLst>
      <p:ext uri="{BB962C8B-B14F-4D97-AF65-F5344CB8AC3E}">
        <p14:creationId xmlns:p14="http://schemas.microsoft.com/office/powerpoint/2010/main" val="3514296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67C77-C6FC-C177-E044-075DE0F869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7FD602-E6EB-8856-585C-281D2991C0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41FBC7-B895-3FC7-142C-FCDB68AD99F6}"/>
              </a:ext>
            </a:extLst>
          </p:cNvPr>
          <p:cNvSpPr>
            <a:spLocks noGrp="1"/>
          </p:cNvSpPr>
          <p:nvPr>
            <p:ph type="dt" sz="half" idx="10"/>
          </p:nvPr>
        </p:nvSpPr>
        <p:spPr/>
        <p:txBody>
          <a:bodyPr/>
          <a:lstStyle/>
          <a:p>
            <a:fld id="{2DD93553-CBF2-D84F-8220-6678E7A16D6F}" type="datetimeFigureOut">
              <a:rPr lang="en-US" smtClean="0"/>
              <a:t>5/12/25</a:t>
            </a:fld>
            <a:endParaRPr lang="en-US"/>
          </a:p>
        </p:txBody>
      </p:sp>
      <p:sp>
        <p:nvSpPr>
          <p:cNvPr id="5" name="Footer Placeholder 4">
            <a:extLst>
              <a:ext uri="{FF2B5EF4-FFF2-40B4-BE49-F238E27FC236}">
                <a16:creationId xmlns:a16="http://schemas.microsoft.com/office/drawing/2014/main" id="{48784F6E-021A-EFA0-DE5D-250288CF8E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EB2D87-6D9B-C807-7DA1-F9556B417F10}"/>
              </a:ext>
            </a:extLst>
          </p:cNvPr>
          <p:cNvSpPr>
            <a:spLocks noGrp="1"/>
          </p:cNvSpPr>
          <p:nvPr>
            <p:ph type="sldNum" sz="quarter" idx="12"/>
          </p:nvPr>
        </p:nvSpPr>
        <p:spPr/>
        <p:txBody>
          <a:bodyPr/>
          <a:lstStyle/>
          <a:p>
            <a:fld id="{46276D20-DC6D-F84B-9343-2C06D41109E6}" type="slidenum">
              <a:rPr lang="en-US" smtClean="0"/>
              <a:t>‹#›</a:t>
            </a:fld>
            <a:endParaRPr lang="en-US"/>
          </a:p>
        </p:txBody>
      </p:sp>
    </p:spTree>
    <p:extLst>
      <p:ext uri="{BB962C8B-B14F-4D97-AF65-F5344CB8AC3E}">
        <p14:creationId xmlns:p14="http://schemas.microsoft.com/office/powerpoint/2010/main" val="2170257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F0D96-E9B7-8618-DCF4-BE299C22E5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0F6E68-412A-C131-28D2-11DE11A362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A45C7B-655D-3F1F-6D91-C409586EC7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3E07D8-4684-117E-4AC6-6E77FCE142EA}"/>
              </a:ext>
            </a:extLst>
          </p:cNvPr>
          <p:cNvSpPr>
            <a:spLocks noGrp="1"/>
          </p:cNvSpPr>
          <p:nvPr>
            <p:ph type="dt" sz="half" idx="10"/>
          </p:nvPr>
        </p:nvSpPr>
        <p:spPr/>
        <p:txBody>
          <a:bodyPr/>
          <a:lstStyle/>
          <a:p>
            <a:fld id="{2DD93553-CBF2-D84F-8220-6678E7A16D6F}" type="datetimeFigureOut">
              <a:rPr lang="en-US" smtClean="0"/>
              <a:t>5/12/25</a:t>
            </a:fld>
            <a:endParaRPr lang="en-US"/>
          </a:p>
        </p:txBody>
      </p:sp>
      <p:sp>
        <p:nvSpPr>
          <p:cNvPr id="6" name="Footer Placeholder 5">
            <a:extLst>
              <a:ext uri="{FF2B5EF4-FFF2-40B4-BE49-F238E27FC236}">
                <a16:creationId xmlns:a16="http://schemas.microsoft.com/office/drawing/2014/main" id="{E1E8EA27-0C9B-7575-4FC4-102AF2F5DA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4E1B30-0A7D-8A28-2384-FAB75D430393}"/>
              </a:ext>
            </a:extLst>
          </p:cNvPr>
          <p:cNvSpPr>
            <a:spLocks noGrp="1"/>
          </p:cNvSpPr>
          <p:nvPr>
            <p:ph type="sldNum" sz="quarter" idx="12"/>
          </p:nvPr>
        </p:nvSpPr>
        <p:spPr/>
        <p:txBody>
          <a:bodyPr/>
          <a:lstStyle/>
          <a:p>
            <a:fld id="{46276D20-DC6D-F84B-9343-2C06D41109E6}" type="slidenum">
              <a:rPr lang="en-US" smtClean="0"/>
              <a:t>‹#›</a:t>
            </a:fld>
            <a:endParaRPr lang="en-US"/>
          </a:p>
        </p:txBody>
      </p:sp>
    </p:spTree>
    <p:extLst>
      <p:ext uri="{BB962C8B-B14F-4D97-AF65-F5344CB8AC3E}">
        <p14:creationId xmlns:p14="http://schemas.microsoft.com/office/powerpoint/2010/main" val="3676541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19735-F63A-31BA-F852-E932334FC47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202C24-19EE-BD2E-7625-076932EB0C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FEA7D0-97EF-AC19-45E1-24E07284BA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B01E40F-9136-57E5-14A6-78BC0F95CC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35A184-F254-1140-FECF-4F6041DD82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A6AD05-21A3-A31D-CEC2-0B8F64C2ED6E}"/>
              </a:ext>
            </a:extLst>
          </p:cNvPr>
          <p:cNvSpPr>
            <a:spLocks noGrp="1"/>
          </p:cNvSpPr>
          <p:nvPr>
            <p:ph type="dt" sz="half" idx="10"/>
          </p:nvPr>
        </p:nvSpPr>
        <p:spPr/>
        <p:txBody>
          <a:bodyPr/>
          <a:lstStyle/>
          <a:p>
            <a:fld id="{2DD93553-CBF2-D84F-8220-6678E7A16D6F}" type="datetimeFigureOut">
              <a:rPr lang="en-US" smtClean="0"/>
              <a:t>5/12/25</a:t>
            </a:fld>
            <a:endParaRPr lang="en-US"/>
          </a:p>
        </p:txBody>
      </p:sp>
      <p:sp>
        <p:nvSpPr>
          <p:cNvPr id="8" name="Footer Placeholder 7">
            <a:extLst>
              <a:ext uri="{FF2B5EF4-FFF2-40B4-BE49-F238E27FC236}">
                <a16:creationId xmlns:a16="http://schemas.microsoft.com/office/drawing/2014/main" id="{91E4701C-0D73-D71A-2616-83B0D4D424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A5F0B3-5F7D-6F79-1C15-656656257BC3}"/>
              </a:ext>
            </a:extLst>
          </p:cNvPr>
          <p:cNvSpPr>
            <a:spLocks noGrp="1"/>
          </p:cNvSpPr>
          <p:nvPr>
            <p:ph type="sldNum" sz="quarter" idx="12"/>
          </p:nvPr>
        </p:nvSpPr>
        <p:spPr/>
        <p:txBody>
          <a:bodyPr/>
          <a:lstStyle/>
          <a:p>
            <a:fld id="{46276D20-DC6D-F84B-9343-2C06D41109E6}" type="slidenum">
              <a:rPr lang="en-US" smtClean="0"/>
              <a:t>‹#›</a:t>
            </a:fld>
            <a:endParaRPr lang="en-US"/>
          </a:p>
        </p:txBody>
      </p:sp>
    </p:spTree>
    <p:extLst>
      <p:ext uri="{BB962C8B-B14F-4D97-AF65-F5344CB8AC3E}">
        <p14:creationId xmlns:p14="http://schemas.microsoft.com/office/powerpoint/2010/main" val="2474051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377AA-63FA-A5BD-C953-5A988FEE8E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77E8F5-5990-3CA2-711E-D0D1BE381954}"/>
              </a:ext>
            </a:extLst>
          </p:cNvPr>
          <p:cNvSpPr>
            <a:spLocks noGrp="1"/>
          </p:cNvSpPr>
          <p:nvPr>
            <p:ph type="dt" sz="half" idx="10"/>
          </p:nvPr>
        </p:nvSpPr>
        <p:spPr/>
        <p:txBody>
          <a:bodyPr/>
          <a:lstStyle/>
          <a:p>
            <a:fld id="{2DD93553-CBF2-D84F-8220-6678E7A16D6F}" type="datetimeFigureOut">
              <a:rPr lang="en-US" smtClean="0"/>
              <a:t>5/12/25</a:t>
            </a:fld>
            <a:endParaRPr lang="en-US"/>
          </a:p>
        </p:txBody>
      </p:sp>
      <p:sp>
        <p:nvSpPr>
          <p:cNvPr id="4" name="Footer Placeholder 3">
            <a:extLst>
              <a:ext uri="{FF2B5EF4-FFF2-40B4-BE49-F238E27FC236}">
                <a16:creationId xmlns:a16="http://schemas.microsoft.com/office/drawing/2014/main" id="{697F4AAA-A086-070B-5E55-0330010E59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502572-04F7-D8A3-CFB6-ACAC3D87B1C1}"/>
              </a:ext>
            </a:extLst>
          </p:cNvPr>
          <p:cNvSpPr>
            <a:spLocks noGrp="1"/>
          </p:cNvSpPr>
          <p:nvPr>
            <p:ph type="sldNum" sz="quarter" idx="12"/>
          </p:nvPr>
        </p:nvSpPr>
        <p:spPr/>
        <p:txBody>
          <a:bodyPr/>
          <a:lstStyle/>
          <a:p>
            <a:fld id="{46276D20-DC6D-F84B-9343-2C06D41109E6}" type="slidenum">
              <a:rPr lang="en-US" smtClean="0"/>
              <a:t>‹#›</a:t>
            </a:fld>
            <a:endParaRPr lang="en-US"/>
          </a:p>
        </p:txBody>
      </p:sp>
    </p:spTree>
    <p:extLst>
      <p:ext uri="{BB962C8B-B14F-4D97-AF65-F5344CB8AC3E}">
        <p14:creationId xmlns:p14="http://schemas.microsoft.com/office/powerpoint/2010/main" val="984156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D2D771-C71C-6AC8-7A6C-FC2FE3F402A2}"/>
              </a:ext>
            </a:extLst>
          </p:cNvPr>
          <p:cNvSpPr>
            <a:spLocks noGrp="1"/>
          </p:cNvSpPr>
          <p:nvPr>
            <p:ph type="dt" sz="half" idx="10"/>
          </p:nvPr>
        </p:nvSpPr>
        <p:spPr/>
        <p:txBody>
          <a:bodyPr/>
          <a:lstStyle/>
          <a:p>
            <a:fld id="{2DD93553-CBF2-D84F-8220-6678E7A16D6F}" type="datetimeFigureOut">
              <a:rPr lang="en-US" smtClean="0"/>
              <a:t>5/12/25</a:t>
            </a:fld>
            <a:endParaRPr lang="en-US"/>
          </a:p>
        </p:txBody>
      </p:sp>
      <p:sp>
        <p:nvSpPr>
          <p:cNvPr id="3" name="Footer Placeholder 2">
            <a:extLst>
              <a:ext uri="{FF2B5EF4-FFF2-40B4-BE49-F238E27FC236}">
                <a16:creationId xmlns:a16="http://schemas.microsoft.com/office/drawing/2014/main" id="{3B51961E-89EC-4B4D-3293-F88D00276F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A5BFA6-ACC6-48E7-429D-3F46CE6EABA0}"/>
              </a:ext>
            </a:extLst>
          </p:cNvPr>
          <p:cNvSpPr>
            <a:spLocks noGrp="1"/>
          </p:cNvSpPr>
          <p:nvPr>
            <p:ph type="sldNum" sz="quarter" idx="12"/>
          </p:nvPr>
        </p:nvSpPr>
        <p:spPr/>
        <p:txBody>
          <a:bodyPr/>
          <a:lstStyle/>
          <a:p>
            <a:fld id="{46276D20-DC6D-F84B-9343-2C06D41109E6}" type="slidenum">
              <a:rPr lang="en-US" smtClean="0"/>
              <a:t>‹#›</a:t>
            </a:fld>
            <a:endParaRPr lang="en-US"/>
          </a:p>
        </p:txBody>
      </p:sp>
    </p:spTree>
    <p:extLst>
      <p:ext uri="{BB962C8B-B14F-4D97-AF65-F5344CB8AC3E}">
        <p14:creationId xmlns:p14="http://schemas.microsoft.com/office/powerpoint/2010/main" val="1810606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CB13F-9A04-31CC-BB84-91FFA29BCE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B5791E1-640E-8C5E-0F7A-E539223397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4235F7-17C6-6D96-BB08-DA60B0125D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ABAF05-1F96-21C4-9B87-3EE8320F271E}"/>
              </a:ext>
            </a:extLst>
          </p:cNvPr>
          <p:cNvSpPr>
            <a:spLocks noGrp="1"/>
          </p:cNvSpPr>
          <p:nvPr>
            <p:ph type="dt" sz="half" idx="10"/>
          </p:nvPr>
        </p:nvSpPr>
        <p:spPr/>
        <p:txBody>
          <a:bodyPr/>
          <a:lstStyle/>
          <a:p>
            <a:fld id="{2DD93553-CBF2-D84F-8220-6678E7A16D6F}" type="datetimeFigureOut">
              <a:rPr lang="en-US" smtClean="0"/>
              <a:t>5/12/25</a:t>
            </a:fld>
            <a:endParaRPr lang="en-US"/>
          </a:p>
        </p:txBody>
      </p:sp>
      <p:sp>
        <p:nvSpPr>
          <p:cNvPr id="6" name="Footer Placeholder 5">
            <a:extLst>
              <a:ext uri="{FF2B5EF4-FFF2-40B4-BE49-F238E27FC236}">
                <a16:creationId xmlns:a16="http://schemas.microsoft.com/office/drawing/2014/main" id="{C97866AB-71B2-BF50-6186-417DAAE16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8A8DB7-992E-1074-AF95-0B6759F50840}"/>
              </a:ext>
            </a:extLst>
          </p:cNvPr>
          <p:cNvSpPr>
            <a:spLocks noGrp="1"/>
          </p:cNvSpPr>
          <p:nvPr>
            <p:ph type="sldNum" sz="quarter" idx="12"/>
          </p:nvPr>
        </p:nvSpPr>
        <p:spPr/>
        <p:txBody>
          <a:bodyPr/>
          <a:lstStyle/>
          <a:p>
            <a:fld id="{46276D20-DC6D-F84B-9343-2C06D41109E6}" type="slidenum">
              <a:rPr lang="en-US" smtClean="0"/>
              <a:t>‹#›</a:t>
            </a:fld>
            <a:endParaRPr lang="en-US"/>
          </a:p>
        </p:txBody>
      </p:sp>
    </p:spTree>
    <p:extLst>
      <p:ext uri="{BB962C8B-B14F-4D97-AF65-F5344CB8AC3E}">
        <p14:creationId xmlns:p14="http://schemas.microsoft.com/office/powerpoint/2010/main" val="3071490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F4EFA-0711-AA84-0F0E-21C4BB0601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F60C8E-FA18-847D-03BA-D61E05AF05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70D9973-EBB1-0644-6444-041F3CFF80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E1977F-ED4F-2B0F-2D9D-3A676838EB59}"/>
              </a:ext>
            </a:extLst>
          </p:cNvPr>
          <p:cNvSpPr>
            <a:spLocks noGrp="1"/>
          </p:cNvSpPr>
          <p:nvPr>
            <p:ph type="dt" sz="half" idx="10"/>
          </p:nvPr>
        </p:nvSpPr>
        <p:spPr/>
        <p:txBody>
          <a:bodyPr/>
          <a:lstStyle/>
          <a:p>
            <a:fld id="{2DD93553-CBF2-D84F-8220-6678E7A16D6F}" type="datetimeFigureOut">
              <a:rPr lang="en-US" smtClean="0"/>
              <a:t>5/12/25</a:t>
            </a:fld>
            <a:endParaRPr lang="en-US"/>
          </a:p>
        </p:txBody>
      </p:sp>
      <p:sp>
        <p:nvSpPr>
          <p:cNvPr id="6" name="Footer Placeholder 5">
            <a:extLst>
              <a:ext uri="{FF2B5EF4-FFF2-40B4-BE49-F238E27FC236}">
                <a16:creationId xmlns:a16="http://schemas.microsoft.com/office/drawing/2014/main" id="{9CF000F2-7D9D-C04F-BD32-A9382780DD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9B8350-2E3A-667A-BBA9-A4C525BE1B8A}"/>
              </a:ext>
            </a:extLst>
          </p:cNvPr>
          <p:cNvSpPr>
            <a:spLocks noGrp="1"/>
          </p:cNvSpPr>
          <p:nvPr>
            <p:ph type="sldNum" sz="quarter" idx="12"/>
          </p:nvPr>
        </p:nvSpPr>
        <p:spPr/>
        <p:txBody>
          <a:bodyPr/>
          <a:lstStyle/>
          <a:p>
            <a:fld id="{46276D20-DC6D-F84B-9343-2C06D41109E6}" type="slidenum">
              <a:rPr lang="en-US" smtClean="0"/>
              <a:t>‹#›</a:t>
            </a:fld>
            <a:endParaRPr lang="en-US"/>
          </a:p>
        </p:txBody>
      </p:sp>
    </p:spTree>
    <p:extLst>
      <p:ext uri="{BB962C8B-B14F-4D97-AF65-F5344CB8AC3E}">
        <p14:creationId xmlns:p14="http://schemas.microsoft.com/office/powerpoint/2010/main" val="1625826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C2E10-1E65-0C39-3CBE-19DB1E1075C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F7E8E2-ABB6-7848-5BBD-5E0BD94794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307F54-1991-3476-6BA5-CF701AD76C86}"/>
              </a:ext>
            </a:extLst>
          </p:cNvPr>
          <p:cNvSpPr>
            <a:spLocks noGrp="1"/>
          </p:cNvSpPr>
          <p:nvPr>
            <p:ph type="dt" sz="half" idx="10"/>
          </p:nvPr>
        </p:nvSpPr>
        <p:spPr/>
        <p:txBody>
          <a:bodyPr/>
          <a:lstStyle/>
          <a:p>
            <a:fld id="{2DD93553-CBF2-D84F-8220-6678E7A16D6F}" type="datetimeFigureOut">
              <a:rPr lang="en-US" smtClean="0"/>
              <a:t>5/12/25</a:t>
            </a:fld>
            <a:endParaRPr lang="en-US"/>
          </a:p>
        </p:txBody>
      </p:sp>
      <p:sp>
        <p:nvSpPr>
          <p:cNvPr id="5" name="Footer Placeholder 4">
            <a:extLst>
              <a:ext uri="{FF2B5EF4-FFF2-40B4-BE49-F238E27FC236}">
                <a16:creationId xmlns:a16="http://schemas.microsoft.com/office/drawing/2014/main" id="{E609FCC5-9DD9-399B-538F-D54103BF91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22256E-FC52-CD6B-CF68-2252F3828D71}"/>
              </a:ext>
            </a:extLst>
          </p:cNvPr>
          <p:cNvSpPr>
            <a:spLocks noGrp="1"/>
          </p:cNvSpPr>
          <p:nvPr>
            <p:ph type="sldNum" sz="quarter" idx="12"/>
          </p:nvPr>
        </p:nvSpPr>
        <p:spPr/>
        <p:txBody>
          <a:bodyPr/>
          <a:lstStyle/>
          <a:p>
            <a:fld id="{46276D20-DC6D-F84B-9343-2C06D41109E6}" type="slidenum">
              <a:rPr lang="en-US" smtClean="0"/>
              <a:t>‹#›</a:t>
            </a:fld>
            <a:endParaRPr lang="en-US"/>
          </a:p>
        </p:txBody>
      </p:sp>
    </p:spTree>
    <p:extLst>
      <p:ext uri="{BB962C8B-B14F-4D97-AF65-F5344CB8AC3E}">
        <p14:creationId xmlns:p14="http://schemas.microsoft.com/office/powerpoint/2010/main" val="622363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6EF1F2-DFE1-A894-8CD7-1E48B574CA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49532FA-FA7D-977A-4627-ECB0371031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C7BA05-61D4-0E60-5F9F-C30C20C0CAF9}"/>
              </a:ext>
            </a:extLst>
          </p:cNvPr>
          <p:cNvSpPr>
            <a:spLocks noGrp="1"/>
          </p:cNvSpPr>
          <p:nvPr>
            <p:ph type="dt" sz="half" idx="10"/>
          </p:nvPr>
        </p:nvSpPr>
        <p:spPr/>
        <p:txBody>
          <a:bodyPr/>
          <a:lstStyle/>
          <a:p>
            <a:fld id="{2DD93553-CBF2-D84F-8220-6678E7A16D6F}" type="datetimeFigureOut">
              <a:rPr lang="en-US" smtClean="0"/>
              <a:t>5/12/25</a:t>
            </a:fld>
            <a:endParaRPr lang="en-US"/>
          </a:p>
        </p:txBody>
      </p:sp>
      <p:sp>
        <p:nvSpPr>
          <p:cNvPr id="5" name="Footer Placeholder 4">
            <a:extLst>
              <a:ext uri="{FF2B5EF4-FFF2-40B4-BE49-F238E27FC236}">
                <a16:creationId xmlns:a16="http://schemas.microsoft.com/office/drawing/2014/main" id="{ED681770-5E73-E34D-064F-7008917EDB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17EC93-CDD1-08CC-4E71-A8D9E403B7C3}"/>
              </a:ext>
            </a:extLst>
          </p:cNvPr>
          <p:cNvSpPr>
            <a:spLocks noGrp="1"/>
          </p:cNvSpPr>
          <p:nvPr>
            <p:ph type="sldNum" sz="quarter" idx="12"/>
          </p:nvPr>
        </p:nvSpPr>
        <p:spPr/>
        <p:txBody>
          <a:bodyPr/>
          <a:lstStyle/>
          <a:p>
            <a:fld id="{46276D20-DC6D-F84B-9343-2C06D41109E6}" type="slidenum">
              <a:rPr lang="en-US" smtClean="0"/>
              <a:t>‹#›</a:t>
            </a:fld>
            <a:endParaRPr lang="en-US"/>
          </a:p>
        </p:txBody>
      </p:sp>
    </p:spTree>
    <p:extLst>
      <p:ext uri="{BB962C8B-B14F-4D97-AF65-F5344CB8AC3E}">
        <p14:creationId xmlns:p14="http://schemas.microsoft.com/office/powerpoint/2010/main" val="253195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07FFC8-2DCB-E7BB-815B-F8C1E1823C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2AF6384-369C-938A-0278-2D3A709755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D18BD8-8E26-C4B9-C72B-C8590AF4FB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D93553-CBF2-D84F-8220-6678E7A16D6F}" type="datetimeFigureOut">
              <a:rPr lang="en-US" smtClean="0"/>
              <a:t>5/12/25</a:t>
            </a:fld>
            <a:endParaRPr lang="en-US"/>
          </a:p>
        </p:txBody>
      </p:sp>
      <p:sp>
        <p:nvSpPr>
          <p:cNvPr id="5" name="Footer Placeholder 4">
            <a:extLst>
              <a:ext uri="{FF2B5EF4-FFF2-40B4-BE49-F238E27FC236}">
                <a16:creationId xmlns:a16="http://schemas.microsoft.com/office/drawing/2014/main" id="{C353550F-F231-CF37-83B3-DFE7835FB0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212162A-3A02-A63F-DC67-A6387AA818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276D20-DC6D-F84B-9343-2C06D41109E6}" type="slidenum">
              <a:rPr lang="en-US" smtClean="0"/>
              <a:t>‹#›</a:t>
            </a:fld>
            <a:endParaRPr lang="en-US"/>
          </a:p>
        </p:txBody>
      </p:sp>
    </p:spTree>
    <p:extLst>
      <p:ext uri="{BB962C8B-B14F-4D97-AF65-F5344CB8AC3E}">
        <p14:creationId xmlns:p14="http://schemas.microsoft.com/office/powerpoint/2010/main" val="10466287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B4BF1772-885C-0D29-7168-8ADF27271D18}"/>
              </a:ext>
            </a:extLst>
          </p:cNvPr>
          <p:cNvSpPr/>
          <p:nvPr/>
        </p:nvSpPr>
        <p:spPr>
          <a:xfrm>
            <a:off x="661035" y="3644750"/>
            <a:ext cx="11190307" cy="1298222"/>
          </a:xfrm>
          <a:prstGeom prst="rect">
            <a:avLst/>
          </a:prstGeom>
          <a:noFill/>
          <a:ln/>
        </p:spPr>
        <p:txBody>
          <a:bodyPr wrap="square" lIns="0" tIns="0" rIns="0" bIns="0" rtlCol="0" anchor="t"/>
          <a:lstStyle/>
          <a:p>
            <a:pPr marL="0" indent="0">
              <a:lnSpc>
                <a:spcPts val="5550"/>
              </a:lnSpc>
              <a:buNone/>
            </a:pPr>
            <a:r>
              <a:rPr lang="en-US" sz="3600" dirty="0">
                <a:solidFill>
                  <a:srgbClr val="1B1B27"/>
                </a:solidFill>
                <a:latin typeface="Times New Roman" panose="02020603050405020304" pitchFamily="18" charset="0"/>
                <a:ea typeface="Raleway" pitchFamily="34" charset="-122"/>
                <a:cs typeface="Times New Roman" panose="02020603050405020304" pitchFamily="18" charset="0"/>
              </a:rPr>
              <a:t>Driving Reliability: Structuring Service BOMs for Zero Downtime</a:t>
            </a:r>
            <a:endParaRPr lang="en-US" sz="3600" dirty="0">
              <a:latin typeface="Times New Roman" panose="02020603050405020304" pitchFamily="18" charset="0"/>
              <a:cs typeface="Times New Roman" panose="02020603050405020304" pitchFamily="18" charset="0"/>
            </a:endParaRPr>
          </a:p>
        </p:txBody>
      </p:sp>
      <p:sp>
        <p:nvSpPr>
          <p:cNvPr id="9" name="Text 4">
            <a:extLst>
              <a:ext uri="{FF2B5EF4-FFF2-40B4-BE49-F238E27FC236}">
                <a16:creationId xmlns:a16="http://schemas.microsoft.com/office/drawing/2014/main" id="{0DFAF189-E434-B347-9A69-BD6BA6D6335C}"/>
              </a:ext>
            </a:extLst>
          </p:cNvPr>
          <p:cNvSpPr/>
          <p:nvPr/>
        </p:nvSpPr>
        <p:spPr>
          <a:xfrm>
            <a:off x="747096" y="5321229"/>
            <a:ext cx="3719155" cy="396835"/>
          </a:xfrm>
          <a:prstGeom prst="rect">
            <a:avLst/>
          </a:prstGeom>
          <a:noFill/>
          <a:ln/>
        </p:spPr>
        <p:txBody>
          <a:bodyPr wrap="none" lIns="0" tIns="0" rIns="0" bIns="0" rtlCol="0" anchor="t"/>
          <a:lstStyle/>
          <a:p>
            <a:pPr marL="0" indent="0" algn="l">
              <a:lnSpc>
                <a:spcPts val="3100"/>
              </a:lnSpc>
              <a:buNone/>
            </a:pPr>
            <a:r>
              <a:rPr lang="en-US" sz="2200" b="1" dirty="0">
                <a:solidFill>
                  <a:srgbClr val="3C3939"/>
                </a:solidFill>
                <a:latin typeface="Times New Roman" panose="02020603050405020304" pitchFamily="18" charset="0"/>
                <a:ea typeface="Roboto Bold" pitchFamily="34" charset="-122"/>
                <a:cs typeface="Times New Roman" panose="02020603050405020304" pitchFamily="18" charset="0"/>
              </a:rPr>
              <a:t>by Nisarga Narasimhamurthy</a:t>
            </a:r>
            <a:endParaRPr lang="en-US" sz="2200" dirty="0">
              <a:latin typeface="Times New Roman" panose="02020603050405020304" pitchFamily="18" charset="0"/>
              <a:cs typeface="Times New Roman" panose="02020603050405020304" pitchFamily="18" charset="0"/>
            </a:endParaRPr>
          </a:p>
        </p:txBody>
      </p:sp>
      <p:pic>
        <p:nvPicPr>
          <p:cNvPr id="13" name="Picture 12" descr="A person standing in a factory&#10;&#10;Description automatically generated">
            <a:extLst>
              <a:ext uri="{FF2B5EF4-FFF2-40B4-BE49-F238E27FC236}">
                <a16:creationId xmlns:a16="http://schemas.microsoft.com/office/drawing/2014/main" id="{FA4CADD8-88DD-00FB-D4F2-768665D7B9F6}"/>
              </a:ext>
            </a:extLst>
          </p:cNvPr>
          <p:cNvPicPr>
            <a:picLocks noChangeAspect="1"/>
          </p:cNvPicPr>
          <p:nvPr/>
        </p:nvPicPr>
        <p:blipFill rotWithShape="1">
          <a:blip r:embed="rId3"/>
          <a:srcRect b="31250"/>
          <a:stretch/>
        </p:blipFill>
        <p:spPr>
          <a:xfrm>
            <a:off x="0" y="0"/>
            <a:ext cx="12192000" cy="3526416"/>
          </a:xfrm>
          <a:prstGeom prst="rect">
            <a:avLst/>
          </a:prstGeom>
        </p:spPr>
      </p:pic>
    </p:spTree>
    <p:extLst>
      <p:ext uri="{BB962C8B-B14F-4D97-AF65-F5344CB8AC3E}">
        <p14:creationId xmlns:p14="http://schemas.microsoft.com/office/powerpoint/2010/main" val="2560533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4" name="Isosceles Triangle 43">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Isosceles Triangle 45">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966D4CBA-CD8E-A0A0-59AB-50A43AAD5A11}"/>
              </a:ext>
            </a:extLst>
          </p:cNvPr>
          <p:cNvGrpSpPr/>
          <p:nvPr/>
        </p:nvGrpSpPr>
        <p:grpSpPr>
          <a:xfrm>
            <a:off x="1707922" y="496461"/>
            <a:ext cx="11178380" cy="2515920"/>
            <a:chOff x="656823" y="2993532"/>
            <a:chExt cx="13432795" cy="2362140"/>
          </a:xfrm>
        </p:grpSpPr>
        <p:sp>
          <p:nvSpPr>
            <p:cNvPr id="19" name="Text 0">
              <a:extLst>
                <a:ext uri="{FF2B5EF4-FFF2-40B4-BE49-F238E27FC236}">
                  <a16:creationId xmlns:a16="http://schemas.microsoft.com/office/drawing/2014/main" id="{CF7E4B81-CB93-33F2-970C-9042C059B082}"/>
                </a:ext>
              </a:extLst>
            </p:cNvPr>
            <p:cNvSpPr/>
            <p:nvPr/>
          </p:nvSpPr>
          <p:spPr>
            <a:xfrm>
              <a:off x="1522905" y="2993532"/>
              <a:ext cx="8614054" cy="708779"/>
            </a:xfrm>
            <a:prstGeom prst="rect">
              <a:avLst/>
            </a:prstGeom>
            <a:noFill/>
            <a:ln/>
          </p:spPr>
          <p:txBody>
            <a:bodyPr wrap="none" lIns="0" tIns="0" rIns="0" bIns="0" rtlCol="0" anchor="t"/>
            <a:lstStyle/>
            <a:p>
              <a:pPr defTabSz="896203">
                <a:lnSpc>
                  <a:spcPts val="5440"/>
                </a:lnSpc>
                <a:spcAft>
                  <a:spcPts val="594"/>
                </a:spcAft>
              </a:pPr>
              <a:r>
                <a:rPr lang="en-US" sz="3600" b="1" kern="1200" dirty="0">
                  <a:solidFill>
                    <a:srgbClr val="1B1B27"/>
                  </a:solidFill>
                  <a:latin typeface="Times New Roman" panose="02020603050405020304" pitchFamily="18" charset="0"/>
                  <a:cs typeface="Times New Roman" panose="02020603050405020304" pitchFamily="18" charset="0"/>
                </a:rPr>
                <a:t>Define: The Downtime Challenge</a:t>
              </a:r>
              <a:endParaRPr lang="en-US" sz="3600" b="1" dirty="0">
                <a:latin typeface="Times New Roman" panose="02020603050405020304" pitchFamily="18" charset="0"/>
                <a:cs typeface="Times New Roman" panose="02020603050405020304" pitchFamily="18" charset="0"/>
              </a:endParaRPr>
            </a:p>
          </p:txBody>
        </p:sp>
        <p:sp>
          <p:nvSpPr>
            <p:cNvPr id="21" name="Text 2">
              <a:extLst>
                <a:ext uri="{FF2B5EF4-FFF2-40B4-BE49-F238E27FC236}">
                  <a16:creationId xmlns:a16="http://schemas.microsoft.com/office/drawing/2014/main" id="{174591FA-ED38-F77B-72F1-F8EC287208CB}"/>
                </a:ext>
              </a:extLst>
            </p:cNvPr>
            <p:cNvSpPr/>
            <p:nvPr/>
          </p:nvSpPr>
          <p:spPr>
            <a:xfrm>
              <a:off x="1469952" y="4183531"/>
              <a:ext cx="2835235" cy="354330"/>
            </a:xfrm>
            <a:prstGeom prst="rect">
              <a:avLst/>
            </a:prstGeom>
            <a:noFill/>
            <a:ln/>
          </p:spPr>
          <p:txBody>
            <a:bodyPr wrap="none" lIns="0" tIns="0" rIns="0" bIns="0" rtlCol="0" anchor="t"/>
            <a:lstStyle/>
            <a:p>
              <a:pPr defTabSz="896203">
                <a:lnSpc>
                  <a:spcPts val="2696"/>
                </a:lnSpc>
                <a:spcAft>
                  <a:spcPts val="594"/>
                </a:spcAft>
              </a:pPr>
              <a:r>
                <a:rPr lang="en-US" sz="2000" dirty="0">
                  <a:latin typeface="Times New Roman" panose="02020603050405020304" pitchFamily="18" charset="0"/>
                  <a:cs typeface="Times New Roman" panose="02020603050405020304" pitchFamily="18" charset="0"/>
                </a:rPr>
                <a:t>🕒 </a:t>
              </a:r>
              <a:r>
                <a:rPr lang="en-US" sz="2156" b="1" kern="1200" dirty="0">
                  <a:solidFill>
                    <a:srgbClr val="3C3939"/>
                  </a:solidFill>
                  <a:latin typeface="Times New Roman" panose="02020603050405020304" pitchFamily="18" charset="0"/>
                  <a:cs typeface="Times New Roman" panose="02020603050405020304" pitchFamily="18" charset="0"/>
                </a:rPr>
                <a:t>Downtime Impact</a:t>
              </a:r>
              <a:endParaRPr lang="en-US" sz="2200" b="1" dirty="0">
                <a:latin typeface="Times New Roman" panose="02020603050405020304" pitchFamily="18" charset="0"/>
                <a:cs typeface="Times New Roman" panose="02020603050405020304" pitchFamily="18" charset="0"/>
              </a:endParaRPr>
            </a:p>
          </p:txBody>
        </p:sp>
        <p:sp>
          <p:nvSpPr>
            <p:cNvPr id="22" name="Text 3">
              <a:extLst>
                <a:ext uri="{FF2B5EF4-FFF2-40B4-BE49-F238E27FC236}">
                  <a16:creationId xmlns:a16="http://schemas.microsoft.com/office/drawing/2014/main" id="{112EFAE3-2BC6-D7D0-833B-4BBD80E60243}"/>
                </a:ext>
              </a:extLst>
            </p:cNvPr>
            <p:cNvSpPr/>
            <p:nvPr/>
          </p:nvSpPr>
          <p:spPr>
            <a:xfrm>
              <a:off x="1184388" y="4619393"/>
              <a:ext cx="3421499" cy="725805"/>
            </a:xfrm>
            <a:prstGeom prst="rect">
              <a:avLst/>
            </a:prstGeom>
            <a:noFill/>
            <a:ln/>
          </p:spPr>
          <p:txBody>
            <a:bodyPr wrap="square" lIns="0" tIns="0" rIns="0" bIns="0" rtlCol="0" anchor="t"/>
            <a:lstStyle/>
            <a:p>
              <a:pPr defTabSz="896203">
                <a:lnSpc>
                  <a:spcPts val="2794"/>
                </a:lnSpc>
                <a:spcAft>
                  <a:spcPts val="594"/>
                </a:spcAft>
              </a:pPr>
              <a:endParaRPr lang="en-US" sz="1750" dirty="0">
                <a:solidFill>
                  <a:srgbClr val="3C3939"/>
                </a:solidFill>
                <a:latin typeface="Times New Roman" panose="02020603050405020304" pitchFamily="18" charset="0"/>
                <a:ea typeface="Roboto" pitchFamily="34" charset="-122"/>
                <a:cs typeface="Times New Roman" panose="02020603050405020304" pitchFamily="18" charset="0"/>
              </a:endParaRPr>
            </a:p>
          </p:txBody>
        </p:sp>
        <p:sp>
          <p:nvSpPr>
            <p:cNvPr id="24" name="Text 5">
              <a:extLst>
                <a:ext uri="{FF2B5EF4-FFF2-40B4-BE49-F238E27FC236}">
                  <a16:creationId xmlns:a16="http://schemas.microsoft.com/office/drawing/2014/main" id="{E40E0974-177C-FA50-C420-9521D0C8BA9E}"/>
                </a:ext>
              </a:extLst>
            </p:cNvPr>
            <p:cNvSpPr/>
            <p:nvPr/>
          </p:nvSpPr>
          <p:spPr>
            <a:xfrm>
              <a:off x="6362167" y="4174840"/>
              <a:ext cx="2835235" cy="354330"/>
            </a:xfrm>
            <a:prstGeom prst="rect">
              <a:avLst/>
            </a:prstGeom>
            <a:noFill/>
            <a:ln/>
          </p:spPr>
          <p:txBody>
            <a:bodyPr wrap="none" lIns="0" tIns="0" rIns="0" bIns="0" rtlCol="0" anchor="t"/>
            <a:lstStyle/>
            <a:p>
              <a:pPr defTabSz="896203">
                <a:lnSpc>
                  <a:spcPts val="2696"/>
                </a:lnSpc>
                <a:spcAft>
                  <a:spcPts val="594"/>
                </a:spcAft>
              </a:pPr>
              <a:r>
                <a:rPr lang="en-US" sz="2400" b="1" dirty="0">
                  <a:latin typeface="Times New Roman" panose="02020603050405020304" pitchFamily="18" charset="0"/>
                  <a:cs typeface="Times New Roman" panose="02020603050405020304" pitchFamily="18" charset="0"/>
                </a:rPr>
                <a:t>🔍 </a:t>
              </a:r>
              <a:r>
                <a:rPr lang="en-US" sz="2156" b="1" kern="1200" dirty="0">
                  <a:solidFill>
                    <a:srgbClr val="3C3939"/>
                  </a:solidFill>
                  <a:latin typeface="Times New Roman" panose="02020603050405020304" pitchFamily="18" charset="0"/>
                  <a:cs typeface="Times New Roman" panose="02020603050405020304" pitchFamily="18" charset="0"/>
                </a:rPr>
                <a:t>Root Causes</a:t>
              </a:r>
              <a:endParaRPr lang="en-US" sz="2200" b="1" dirty="0">
                <a:latin typeface="Times New Roman" panose="02020603050405020304" pitchFamily="18" charset="0"/>
                <a:cs typeface="Times New Roman" panose="02020603050405020304" pitchFamily="18" charset="0"/>
              </a:endParaRPr>
            </a:p>
          </p:txBody>
        </p:sp>
        <p:sp>
          <p:nvSpPr>
            <p:cNvPr id="25" name="Text 6">
              <a:extLst>
                <a:ext uri="{FF2B5EF4-FFF2-40B4-BE49-F238E27FC236}">
                  <a16:creationId xmlns:a16="http://schemas.microsoft.com/office/drawing/2014/main" id="{598662DA-E84C-A74F-C08D-E56D0AA137BC}"/>
                </a:ext>
              </a:extLst>
            </p:cNvPr>
            <p:cNvSpPr/>
            <p:nvPr/>
          </p:nvSpPr>
          <p:spPr>
            <a:xfrm>
              <a:off x="5929873" y="4626063"/>
              <a:ext cx="4971567" cy="725805"/>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60% of service escalations due to BOM structural mismatches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35% of ECRs not reflected in Service BOM</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20% outdated supersession chains</a:t>
              </a:r>
            </a:p>
          </p:txBody>
        </p:sp>
        <p:sp>
          <p:nvSpPr>
            <p:cNvPr id="27" name="Text 8">
              <a:extLst>
                <a:ext uri="{FF2B5EF4-FFF2-40B4-BE49-F238E27FC236}">
                  <a16:creationId xmlns:a16="http://schemas.microsoft.com/office/drawing/2014/main" id="{959DD7E6-0438-0CD4-163B-A5C0E859BBA0}"/>
                </a:ext>
              </a:extLst>
            </p:cNvPr>
            <p:cNvSpPr/>
            <p:nvPr/>
          </p:nvSpPr>
          <p:spPr>
            <a:xfrm>
              <a:off x="11254383" y="4183531"/>
              <a:ext cx="2835235" cy="354330"/>
            </a:xfrm>
            <a:prstGeom prst="rect">
              <a:avLst/>
            </a:prstGeom>
            <a:noFill/>
            <a:ln/>
          </p:spPr>
          <p:txBody>
            <a:bodyPr wrap="none" lIns="0" tIns="0" rIns="0" bIns="0" rtlCol="0" anchor="t"/>
            <a:lstStyle/>
            <a:p>
              <a:pPr defTabSz="896203">
                <a:lnSpc>
                  <a:spcPts val="2696"/>
                </a:lnSpc>
                <a:spcAft>
                  <a:spcPts val="594"/>
                </a:spcAft>
              </a:pPr>
              <a:endParaRPr lang="en-US" sz="2200" b="1" dirty="0">
                <a:latin typeface="Times New Roman" panose="02020603050405020304" pitchFamily="18" charset="0"/>
                <a:cs typeface="Times New Roman" panose="02020603050405020304" pitchFamily="18" charset="0"/>
              </a:endParaRPr>
            </a:p>
          </p:txBody>
        </p:sp>
        <p:sp>
          <p:nvSpPr>
            <p:cNvPr id="28" name="Text 9">
              <a:extLst>
                <a:ext uri="{FF2B5EF4-FFF2-40B4-BE49-F238E27FC236}">
                  <a16:creationId xmlns:a16="http://schemas.microsoft.com/office/drawing/2014/main" id="{07C180C7-1AFC-BFA7-18E6-BF04D4241C54}"/>
                </a:ext>
              </a:extLst>
            </p:cNvPr>
            <p:cNvSpPr/>
            <p:nvPr/>
          </p:nvSpPr>
          <p:spPr>
            <a:xfrm>
              <a:off x="10339685" y="4629867"/>
              <a:ext cx="3421499" cy="725805"/>
            </a:xfrm>
            <a:prstGeom prst="rect">
              <a:avLst/>
            </a:prstGeom>
            <a:noFill/>
            <a:ln/>
          </p:spPr>
          <p:txBody>
            <a:bodyPr wrap="square" lIns="0" tIns="0" rIns="0" bIns="0" rtlCol="0" anchor="t"/>
            <a:lstStyle/>
            <a:p>
              <a:pPr defTabSz="896203">
                <a:lnSpc>
                  <a:spcPts val="2794"/>
                </a:lnSpc>
                <a:spcAft>
                  <a:spcPts val="594"/>
                </a:spcAft>
              </a:pPr>
              <a:endParaRPr lang="en-US" sz="1750"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350AD57E-1F17-3641-BEE5-EBDADE57ABEB}"/>
                </a:ext>
              </a:extLst>
            </p:cNvPr>
            <p:cNvSpPr txBox="1"/>
            <p:nvPr/>
          </p:nvSpPr>
          <p:spPr>
            <a:xfrm>
              <a:off x="656823" y="3438659"/>
              <a:ext cx="221987" cy="346757"/>
            </a:xfrm>
            <a:prstGeom prst="rect">
              <a:avLst/>
            </a:prstGeom>
            <a:noFill/>
          </p:spPr>
          <p:txBody>
            <a:bodyPr wrap="none" rtlCol="0">
              <a:spAutoFit/>
            </a:bodyPr>
            <a:lstStyle/>
            <a:p>
              <a:endParaRPr lang="en-US">
                <a:latin typeface="Times New Roman" panose="02020603050405020304" pitchFamily="18" charset="0"/>
                <a:cs typeface="Times New Roman" panose="02020603050405020304" pitchFamily="18" charset="0"/>
              </a:endParaRPr>
            </a:p>
          </p:txBody>
        </p:sp>
      </p:grpSp>
      <p:sp>
        <p:nvSpPr>
          <p:cNvPr id="2" name="TextBox 1">
            <a:extLst>
              <a:ext uri="{FF2B5EF4-FFF2-40B4-BE49-F238E27FC236}">
                <a16:creationId xmlns:a16="http://schemas.microsoft.com/office/drawing/2014/main" id="{739E957F-B18D-D876-4560-936F4AE67016}"/>
              </a:ext>
            </a:extLst>
          </p:cNvPr>
          <p:cNvSpPr txBox="1"/>
          <p:nvPr/>
        </p:nvSpPr>
        <p:spPr>
          <a:xfrm>
            <a:off x="2058929" y="2285514"/>
            <a:ext cx="3709933" cy="1107996"/>
          </a:xfrm>
          <a:prstGeom prst="rect">
            <a:avLst/>
          </a:prstGeom>
          <a:noFill/>
        </p:spPr>
        <p:txBody>
          <a:bodyPr wrap="square" rtlCol="0">
            <a:spAutoFit/>
          </a:bodyPr>
          <a:lstStyle/>
          <a:p>
            <a:pPr marL="342900" indent="-3429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$1.2K–$1.5K/hour lost per service bay</a:t>
            </a:r>
          </a:p>
          <a:p>
            <a:pPr marL="342900" indent="-3429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4.5 hrs avg delay per BOM issue</a:t>
            </a:r>
          </a:p>
          <a:p>
            <a:pPr marL="342900" indent="-3429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$250K+ annual loss from downtime</a:t>
            </a:r>
          </a:p>
          <a:p>
            <a:pPr algn="just"/>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AA70ED7-1A8B-E9F3-89B3-32ECE859FA1F}"/>
              </a:ext>
            </a:extLst>
          </p:cNvPr>
          <p:cNvSpPr txBox="1"/>
          <p:nvPr/>
        </p:nvSpPr>
        <p:spPr>
          <a:xfrm>
            <a:off x="2029033" y="4551378"/>
            <a:ext cx="3983799" cy="830997"/>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#1 issue in Q2'22 global audit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30+ tickets/month from field teams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3-month BOM backlog for legacy variants</a:t>
            </a:r>
          </a:p>
        </p:txBody>
      </p:sp>
      <p:sp>
        <p:nvSpPr>
          <p:cNvPr id="5" name="TextBox 4">
            <a:extLst>
              <a:ext uri="{FF2B5EF4-FFF2-40B4-BE49-F238E27FC236}">
                <a16:creationId xmlns:a16="http://schemas.microsoft.com/office/drawing/2014/main" id="{96A43C47-5592-C9EB-1E4B-C4D6281BEEF4}"/>
              </a:ext>
            </a:extLst>
          </p:cNvPr>
          <p:cNvSpPr txBox="1"/>
          <p:nvPr/>
        </p:nvSpPr>
        <p:spPr>
          <a:xfrm>
            <a:off x="2545191" y="3850289"/>
            <a:ext cx="3223671" cy="701089"/>
          </a:xfrm>
          <a:prstGeom prst="rect">
            <a:avLst/>
          </a:prstGeom>
          <a:noFill/>
        </p:spPr>
        <p:txBody>
          <a:bodyPr wrap="square" rtlCol="0">
            <a:spAutoFit/>
          </a:bodyPr>
          <a:lstStyle/>
          <a:p>
            <a:r>
              <a:rPr lang="en-US" sz="2156" b="1" dirty="0">
                <a:solidFill>
                  <a:srgbClr val="3C3939"/>
                </a:solidFill>
                <a:latin typeface="Times New Roman" panose="02020603050405020304" pitchFamily="18" charset="0"/>
                <a:cs typeface="Times New Roman" panose="02020603050405020304" pitchFamily="18" charset="0"/>
              </a:rPr>
              <a:t>Burning Platform</a:t>
            </a:r>
          </a:p>
          <a:p>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55BC01B-02A4-8832-9B20-C3A1B2D09C39}"/>
              </a:ext>
            </a:extLst>
          </p:cNvPr>
          <p:cNvSpPr txBox="1"/>
          <p:nvPr/>
        </p:nvSpPr>
        <p:spPr>
          <a:xfrm>
            <a:off x="6096000" y="3840753"/>
            <a:ext cx="4549372" cy="1494512"/>
          </a:xfrm>
          <a:prstGeom prst="rect">
            <a:avLst/>
          </a:prstGeom>
          <a:noFill/>
        </p:spPr>
        <p:txBody>
          <a:bodyPr wrap="square">
            <a:spAutoFit/>
          </a:bodyPr>
          <a:lstStyle/>
          <a:p>
            <a:r>
              <a:rPr lang="en-US" sz="2156" b="1" dirty="0">
                <a:solidFill>
                  <a:srgbClr val="3C3939"/>
                </a:solidFill>
                <a:latin typeface="Times New Roman" panose="02020603050405020304" pitchFamily="18" charset="0"/>
                <a:cs typeface="Times New Roman" panose="02020603050405020304" pitchFamily="18" charset="0"/>
              </a:rPr>
              <a:t>          🎯 Business Goal</a:t>
            </a:r>
          </a:p>
          <a:p>
            <a:endParaRPr lang="en-US" sz="2156" dirty="0">
              <a:solidFill>
                <a:srgbClr val="3C3939"/>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&gt;95% BOM accuracy across systems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70%+ reduction in BOM-related downtime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25% faster ECR cycle time (7→5 days)</a:t>
            </a:r>
          </a:p>
        </p:txBody>
      </p:sp>
    </p:spTree>
    <p:extLst>
      <p:ext uri="{BB962C8B-B14F-4D97-AF65-F5344CB8AC3E}">
        <p14:creationId xmlns:p14="http://schemas.microsoft.com/office/powerpoint/2010/main" val="1252136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4" name="Isosceles Triangle 43">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Isosceles Triangle 45">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7C2541AD-4CBC-F206-4C02-8438868132B6}"/>
              </a:ext>
            </a:extLst>
          </p:cNvPr>
          <p:cNvSpPr/>
          <p:nvPr/>
        </p:nvSpPr>
        <p:spPr>
          <a:xfrm>
            <a:off x="1977571" y="382097"/>
            <a:ext cx="10566454" cy="708779"/>
          </a:xfrm>
          <a:prstGeom prst="rect">
            <a:avLst/>
          </a:prstGeom>
          <a:noFill/>
          <a:ln/>
        </p:spPr>
        <p:txBody>
          <a:bodyPr wrap="none" lIns="0" tIns="0" rIns="0" bIns="0" rtlCol="0" anchor="t"/>
          <a:lstStyle/>
          <a:p>
            <a:pPr>
              <a:lnSpc>
                <a:spcPts val="5550"/>
              </a:lnSpc>
            </a:pPr>
            <a:r>
              <a:rPr lang="en-US" sz="3600" b="1" dirty="0">
                <a:solidFill>
                  <a:srgbClr val="1B1B27"/>
                </a:solidFill>
                <a:latin typeface="Times New Roman" panose="02020603050405020304" pitchFamily="18" charset="0"/>
                <a:ea typeface="Raleway" pitchFamily="34" charset="-122"/>
                <a:cs typeface="Times New Roman" panose="02020603050405020304" pitchFamily="18" charset="0"/>
              </a:rPr>
              <a:t>Measure: </a:t>
            </a:r>
            <a:r>
              <a:rPr lang="en-US" sz="3600" b="1" dirty="0">
                <a:latin typeface="Times New Roman" panose="02020603050405020304" pitchFamily="18" charset="0"/>
                <a:cs typeface="Times New Roman" panose="02020603050405020304" pitchFamily="18" charset="0"/>
              </a:rPr>
              <a:t>BOM Complexity &amp; Impact </a:t>
            </a:r>
          </a:p>
        </p:txBody>
      </p:sp>
      <p:sp>
        <p:nvSpPr>
          <p:cNvPr id="11" name="TextBox 10">
            <a:extLst>
              <a:ext uri="{FF2B5EF4-FFF2-40B4-BE49-F238E27FC236}">
                <a16:creationId xmlns:a16="http://schemas.microsoft.com/office/drawing/2014/main" id="{7A408E68-30BF-9BCB-86E7-D3A58D49A266}"/>
              </a:ext>
            </a:extLst>
          </p:cNvPr>
          <p:cNvSpPr txBox="1"/>
          <p:nvPr/>
        </p:nvSpPr>
        <p:spPr>
          <a:xfrm>
            <a:off x="851675" y="1583272"/>
            <a:ext cx="5199458" cy="1631216"/>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 BOM Complexity</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Each vehicle variant (e.g., Actros, </a:t>
            </a:r>
            <a:r>
              <a:rPr lang="en-US" sz="1600" dirty="0" err="1">
                <a:latin typeface="Times New Roman" panose="02020603050405020304" pitchFamily="18" charset="0"/>
                <a:cs typeface="Times New Roman" panose="02020603050405020304" pitchFamily="18" charset="0"/>
              </a:rPr>
              <a:t>Arocs</a:t>
            </a:r>
            <a:r>
              <a:rPr lang="en-US" sz="1600" dirty="0">
                <a:latin typeface="Times New Roman" panose="02020603050405020304" pitchFamily="18" charset="0"/>
                <a:cs typeface="Times New Roman" panose="02020603050405020304" pitchFamily="18" charset="0"/>
              </a:rPr>
              <a:t>) has </a:t>
            </a:r>
            <a:r>
              <a:rPr lang="en-US" sz="1600" b="1" dirty="0">
                <a:latin typeface="Times New Roman" panose="02020603050405020304" pitchFamily="18" charset="0"/>
                <a:cs typeface="Times New Roman" panose="02020603050405020304" pitchFamily="18" charset="0"/>
              </a:rPr>
              <a:t>800+ unique serviceable parts.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4 vehicle platforms spanned across </a:t>
            </a:r>
            <a:r>
              <a:rPr lang="en-US" sz="1600" b="1" dirty="0">
                <a:latin typeface="Times New Roman" panose="02020603050405020304" pitchFamily="18" charset="0"/>
                <a:cs typeface="Times New Roman" panose="02020603050405020304" pitchFamily="18" charset="0"/>
              </a:rPr>
              <a:t>3 production regions.</a:t>
            </a:r>
          </a:p>
        </p:txBody>
      </p:sp>
      <p:pic>
        <p:nvPicPr>
          <p:cNvPr id="15" name="Picture 14" descr="A table of data with numbers and letters&#10;&#10;Description automatically generated with medium confidence">
            <a:extLst>
              <a:ext uri="{FF2B5EF4-FFF2-40B4-BE49-F238E27FC236}">
                <a16:creationId xmlns:a16="http://schemas.microsoft.com/office/drawing/2014/main" id="{7E46688A-16ED-B911-919E-F408723A39E3}"/>
              </a:ext>
            </a:extLst>
          </p:cNvPr>
          <p:cNvPicPr>
            <a:picLocks noChangeAspect="1"/>
          </p:cNvPicPr>
          <p:nvPr/>
        </p:nvPicPr>
        <p:blipFill>
          <a:blip r:embed="rId3"/>
          <a:stretch>
            <a:fillRect/>
          </a:stretch>
        </p:blipFill>
        <p:spPr>
          <a:xfrm>
            <a:off x="7107145" y="1529979"/>
            <a:ext cx="3894373" cy="4709475"/>
          </a:xfrm>
          <a:prstGeom prst="rect">
            <a:avLst/>
          </a:prstGeom>
        </p:spPr>
      </p:pic>
      <p:graphicFrame>
        <p:nvGraphicFramePr>
          <p:cNvPr id="48" name="TextBox 12">
            <a:extLst>
              <a:ext uri="{FF2B5EF4-FFF2-40B4-BE49-F238E27FC236}">
                <a16:creationId xmlns:a16="http://schemas.microsoft.com/office/drawing/2014/main" id="{700AA82F-3DBC-A1B9-647B-A9A9CFFD3EBF}"/>
              </a:ext>
            </a:extLst>
          </p:cNvPr>
          <p:cNvGraphicFramePr/>
          <p:nvPr>
            <p:extLst>
              <p:ext uri="{D42A27DB-BD31-4B8C-83A1-F6EECF244321}">
                <p14:modId xmlns:p14="http://schemas.microsoft.com/office/powerpoint/2010/main" val="1847943458"/>
              </p:ext>
            </p:extLst>
          </p:nvPr>
        </p:nvGraphicFramePr>
        <p:xfrm>
          <a:off x="551141" y="3330390"/>
          <a:ext cx="6228481" cy="31227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67259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05" name="Freeform: Shape 4104">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107" name="Freeform: Shape 4106">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 0">
            <a:extLst>
              <a:ext uri="{FF2B5EF4-FFF2-40B4-BE49-F238E27FC236}">
                <a16:creationId xmlns:a16="http://schemas.microsoft.com/office/drawing/2014/main" id="{3B75D9CA-9BB0-3078-8BB4-263DB6BABFE5}"/>
              </a:ext>
            </a:extLst>
          </p:cNvPr>
          <p:cNvSpPr/>
          <p:nvPr/>
        </p:nvSpPr>
        <p:spPr>
          <a:xfrm>
            <a:off x="371094" y="1161288"/>
            <a:ext cx="3438144" cy="1239012"/>
          </a:xfrm>
          <a:prstGeom prst="rect">
            <a:avLst/>
          </a:prstGeom>
        </p:spPr>
        <p:txBody>
          <a:bodyPr vert="horz" lIns="91440" tIns="45720" rIns="91440" bIns="45720" rtlCol="0" anchor="ctr">
            <a:noAutofit/>
          </a:bodyPr>
          <a:lstStyle/>
          <a:p>
            <a:pPr>
              <a:lnSpc>
                <a:spcPct val="90000"/>
              </a:lnSpc>
              <a:spcBef>
                <a:spcPct val="0"/>
              </a:spcBef>
              <a:spcAft>
                <a:spcPts val="600"/>
              </a:spcAft>
            </a:pPr>
            <a:r>
              <a:rPr lang="en-US" sz="3600" b="1" kern="1200" dirty="0">
                <a:solidFill>
                  <a:schemeClr val="tx1"/>
                </a:solidFill>
                <a:latin typeface="Times New Roman" panose="02020603050405020304" pitchFamily="18" charset="0"/>
                <a:ea typeface="+mj-ea"/>
                <a:cs typeface="Times New Roman" panose="02020603050405020304" pitchFamily="18" charset="0"/>
              </a:rPr>
              <a:t>Analyze: What’s Driving BOM Errors?</a:t>
            </a:r>
          </a:p>
        </p:txBody>
      </p:sp>
      <p:sp>
        <p:nvSpPr>
          <p:cNvPr id="4109" name="Rectangle 4108">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111" name="Rectangle 4110">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098" name="Picture 2" descr="Output image">
            <a:extLst>
              <a:ext uri="{FF2B5EF4-FFF2-40B4-BE49-F238E27FC236}">
                <a16:creationId xmlns:a16="http://schemas.microsoft.com/office/drawing/2014/main" id="{29937884-E8DB-9CA4-0226-A07478218B9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901184" y="1047936"/>
            <a:ext cx="6922008" cy="486271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7" name="TextBox 18">
            <a:extLst>
              <a:ext uri="{FF2B5EF4-FFF2-40B4-BE49-F238E27FC236}">
                <a16:creationId xmlns:a16="http://schemas.microsoft.com/office/drawing/2014/main" id="{860DF6D9-80B6-2EEE-05AC-4130936C09FC}"/>
              </a:ext>
            </a:extLst>
          </p:cNvPr>
          <p:cNvGraphicFramePr/>
          <p:nvPr>
            <p:extLst>
              <p:ext uri="{D42A27DB-BD31-4B8C-83A1-F6EECF244321}">
                <p14:modId xmlns:p14="http://schemas.microsoft.com/office/powerpoint/2010/main" val="1983514110"/>
              </p:ext>
            </p:extLst>
          </p:nvPr>
        </p:nvGraphicFramePr>
        <p:xfrm>
          <a:off x="371094" y="2718054"/>
          <a:ext cx="3438906" cy="32072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3" name="Rectangle 1">
            <a:extLst>
              <a:ext uri="{FF2B5EF4-FFF2-40B4-BE49-F238E27FC236}">
                <a16:creationId xmlns:a16="http://schemas.microsoft.com/office/drawing/2014/main" id="{43DE3AC4-A578-5D05-C4F0-E8685AC7AE6E}"/>
              </a:ext>
            </a:extLst>
          </p:cNvPr>
          <p:cNvSpPr>
            <a:spLocks noChangeArrowheads="1"/>
          </p:cNvSpPr>
          <p:nvPr/>
        </p:nvSpPr>
        <p:spPr bwMode="auto">
          <a:xfrm>
            <a:off x="-3710381" y="-16436232"/>
            <a:ext cx="2930613" cy="102197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endParaRPr kumimoji="0" lang="en-US" altLang="en-US" sz="6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ts val="600"/>
              </a:spcAft>
              <a:buClrTx/>
              <a:buSzTx/>
              <a:buFontTx/>
              <a:buNone/>
              <a:tabLst/>
            </a:pPr>
            <a:r>
              <a:rPr kumimoji="0" lang="en-US" altLang="en-US" sz="1000" b="0" i="0" u="none" strike="noStrike" cap="none" normalizeH="0" baseline="0">
                <a:ln>
                  <a:noFill/>
                </a:ln>
                <a:solidFill>
                  <a:schemeClr val="tx1"/>
                </a:solidFill>
                <a:effectLst/>
                <a:latin typeface="Arial" panose="020B0604020202020204" pitchFamily="34" charset="0"/>
              </a:rPr>
              <a:t>  </a:t>
            </a:r>
            <a:r>
              <a:rPr kumimoji="0" lang="en-US" altLang="en-US" sz="943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ts val="60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Here’s</a:t>
            </a:r>
          </a:p>
        </p:txBody>
      </p:sp>
      <p:sp>
        <p:nvSpPr>
          <p:cNvPr id="27" name="TextBox 26">
            <a:extLst>
              <a:ext uri="{FF2B5EF4-FFF2-40B4-BE49-F238E27FC236}">
                <a16:creationId xmlns:a16="http://schemas.microsoft.com/office/drawing/2014/main" id="{79C89615-B272-4E69-50DF-902F814AAED9}"/>
              </a:ext>
            </a:extLst>
          </p:cNvPr>
          <p:cNvSpPr txBox="1"/>
          <p:nvPr/>
        </p:nvSpPr>
        <p:spPr>
          <a:xfrm>
            <a:off x="8479705" y="6449256"/>
            <a:ext cx="7245895" cy="261610"/>
          </a:xfrm>
          <a:prstGeom prst="rect">
            <a:avLst/>
          </a:prstGeom>
          <a:noFill/>
        </p:spPr>
        <p:txBody>
          <a:bodyPr wrap="square" rtlCol="0">
            <a:spAutoFit/>
          </a:bodyPr>
          <a:lstStyle/>
          <a:p>
            <a:r>
              <a:rPr lang="en-US" sz="1100" dirty="0"/>
              <a:t>“Based on field KPIs tracked at Daimler Trucks (2021–2023)”</a:t>
            </a:r>
            <a:endParaRPr lang="en-US" sz="1400" dirty="0">
              <a:solidFill>
                <a:srgbClr val="3C3939"/>
              </a:solidFill>
              <a:latin typeface="Roboto" pitchFamily="34" charset="0"/>
              <a:ea typeface="Roboto" pitchFamily="34" charset="-122"/>
              <a:cs typeface="Roboto" pitchFamily="34" charset="-120"/>
            </a:endParaRPr>
          </a:p>
        </p:txBody>
      </p:sp>
    </p:spTree>
    <p:extLst>
      <p:ext uri="{BB962C8B-B14F-4D97-AF65-F5344CB8AC3E}">
        <p14:creationId xmlns:p14="http://schemas.microsoft.com/office/powerpoint/2010/main" val="182430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73" name="Rectangle 2072">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74" name="Rectangle 2073">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 0">
            <a:extLst>
              <a:ext uri="{FF2B5EF4-FFF2-40B4-BE49-F238E27FC236}">
                <a16:creationId xmlns:a16="http://schemas.microsoft.com/office/drawing/2014/main" id="{E5029146-7F95-A9F2-C7D7-3459923E7CDC}"/>
              </a:ext>
            </a:extLst>
          </p:cNvPr>
          <p:cNvSpPr/>
          <p:nvPr/>
        </p:nvSpPr>
        <p:spPr>
          <a:xfrm>
            <a:off x="888226" y="632541"/>
            <a:ext cx="4077691" cy="1867620"/>
          </a:xfrm>
          <a:prstGeom prst="rect">
            <a:avLst/>
          </a:prstGeom>
        </p:spPr>
        <p:txBody>
          <a:bodyPr vert="horz" lIns="91440" tIns="45720" rIns="91440" bIns="45720" rtlCol="0" anchor="ctr">
            <a:noAutofit/>
          </a:bodyPr>
          <a:lstStyle/>
          <a:p>
            <a:pPr>
              <a:lnSpc>
                <a:spcPct val="90000"/>
              </a:lnSpc>
              <a:spcBef>
                <a:spcPct val="0"/>
              </a:spcBef>
              <a:spcAft>
                <a:spcPts val="600"/>
              </a:spcAft>
            </a:pPr>
            <a:r>
              <a:rPr lang="en-US" sz="3600" b="1" dirty="0">
                <a:latin typeface="Times New Roman" panose="02020603050405020304" pitchFamily="18" charset="0"/>
                <a:ea typeface="+mj-ea"/>
                <a:cs typeface="Times New Roman" panose="02020603050405020304" pitchFamily="18" charset="0"/>
              </a:rPr>
              <a:t>Improve: Corrective Actions &amp; Implementation</a:t>
            </a:r>
          </a:p>
          <a:p>
            <a:pPr>
              <a:lnSpc>
                <a:spcPct val="90000"/>
              </a:lnSpc>
              <a:spcBef>
                <a:spcPct val="0"/>
              </a:spcBef>
              <a:spcAft>
                <a:spcPts val="600"/>
              </a:spcAft>
            </a:pPr>
            <a:endParaRPr lang="en-US" sz="3600" dirty="0">
              <a:latin typeface="+mj-lt"/>
              <a:ea typeface="+mj-ea"/>
              <a:cs typeface="+mj-cs"/>
            </a:endParaRPr>
          </a:p>
        </p:txBody>
      </p:sp>
      <p:sp>
        <p:nvSpPr>
          <p:cNvPr id="2075" name="Rectangle 2074">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076" name="Rectangle 2075">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291B1A14-E1FA-6A23-C0ED-E947FC53D66A}"/>
              </a:ext>
            </a:extLst>
          </p:cNvPr>
          <p:cNvSpPr txBox="1"/>
          <p:nvPr/>
        </p:nvSpPr>
        <p:spPr>
          <a:xfrm>
            <a:off x="5250106" y="675782"/>
            <a:ext cx="6350902" cy="1645920"/>
          </a:xfrm>
          <a:prstGeom prst="rect">
            <a:avLst/>
          </a:prstGeom>
        </p:spPr>
        <p:txBody>
          <a:bodyPr vert="horz" lIns="91440" tIns="45720" rIns="91440" bIns="45720" rtlCol="0" anchor="ctr">
            <a:normAutofit/>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Streamlined PLM workflows to auto-flag BOM structural issues.</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Standardized Service BOM templates across platforms.</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Cleaned up 500+ supersession chains for consistency.</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Deployed exception reports to catch revision mismatches early.</a:t>
            </a:r>
          </a:p>
          <a:p>
            <a:pPr marL="57150">
              <a:lnSpc>
                <a:spcPct val="90000"/>
              </a:lnSpc>
              <a:spcAft>
                <a:spcPts val="600"/>
              </a:spcAft>
            </a:pPr>
            <a:endParaRPr lang="en-US" sz="1600" dirty="0"/>
          </a:p>
        </p:txBody>
      </p:sp>
      <p:pic>
        <p:nvPicPr>
          <p:cNvPr id="2050" name="Picture 2" descr="Output image">
            <a:extLst>
              <a:ext uri="{FF2B5EF4-FFF2-40B4-BE49-F238E27FC236}">
                <a16:creationId xmlns:a16="http://schemas.microsoft.com/office/drawing/2014/main" id="{F16EA18C-D71E-7DA3-43B2-C184F6511C9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04705" y="2545879"/>
            <a:ext cx="5481509" cy="32752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Table 12">
            <a:extLst>
              <a:ext uri="{FF2B5EF4-FFF2-40B4-BE49-F238E27FC236}">
                <a16:creationId xmlns:a16="http://schemas.microsoft.com/office/drawing/2014/main" id="{0E6B207B-5732-93CA-F9C7-85ED502D29F9}"/>
              </a:ext>
            </a:extLst>
          </p:cNvPr>
          <p:cNvGraphicFramePr>
            <a:graphicFrameLocks noGrp="1"/>
          </p:cNvGraphicFramePr>
          <p:nvPr>
            <p:extLst>
              <p:ext uri="{D42A27DB-BD31-4B8C-83A1-F6EECF244321}">
                <p14:modId xmlns:p14="http://schemas.microsoft.com/office/powerpoint/2010/main" val="2998396926"/>
              </p:ext>
            </p:extLst>
          </p:nvPr>
        </p:nvGraphicFramePr>
        <p:xfrm>
          <a:off x="6044283" y="2902797"/>
          <a:ext cx="5523084" cy="2561364"/>
        </p:xfrm>
        <a:graphic>
          <a:graphicData uri="http://schemas.openxmlformats.org/drawingml/2006/table">
            <a:tbl>
              <a:tblPr>
                <a:solidFill>
                  <a:srgbClr val="F7F7F7"/>
                </a:solidFill>
              </a:tblPr>
              <a:tblGrid>
                <a:gridCol w="1636042">
                  <a:extLst>
                    <a:ext uri="{9D8B030D-6E8A-4147-A177-3AD203B41FA5}">
                      <a16:colId xmlns:a16="http://schemas.microsoft.com/office/drawing/2014/main" val="336420849"/>
                    </a:ext>
                  </a:extLst>
                </a:gridCol>
                <a:gridCol w="1223570">
                  <a:extLst>
                    <a:ext uri="{9D8B030D-6E8A-4147-A177-3AD203B41FA5}">
                      <a16:colId xmlns:a16="http://schemas.microsoft.com/office/drawing/2014/main" val="890072489"/>
                    </a:ext>
                  </a:extLst>
                </a:gridCol>
                <a:gridCol w="1223570">
                  <a:extLst>
                    <a:ext uri="{9D8B030D-6E8A-4147-A177-3AD203B41FA5}">
                      <a16:colId xmlns:a16="http://schemas.microsoft.com/office/drawing/2014/main" val="1179310869"/>
                    </a:ext>
                  </a:extLst>
                </a:gridCol>
                <a:gridCol w="1439902">
                  <a:extLst>
                    <a:ext uri="{9D8B030D-6E8A-4147-A177-3AD203B41FA5}">
                      <a16:colId xmlns:a16="http://schemas.microsoft.com/office/drawing/2014/main" val="451491453"/>
                    </a:ext>
                  </a:extLst>
                </a:gridCol>
              </a:tblGrid>
              <a:tr h="379359">
                <a:tc>
                  <a:txBody>
                    <a:bodyPr/>
                    <a:lstStyle/>
                    <a:p>
                      <a:r>
                        <a:rPr lang="en-US" sz="1500" b="1" cap="none" spc="0">
                          <a:solidFill>
                            <a:schemeClr val="tx1"/>
                          </a:solidFill>
                          <a:latin typeface="Times New Roman" panose="02020603050405020304" pitchFamily="18" charset="0"/>
                          <a:cs typeface="Times New Roman" panose="02020603050405020304" pitchFamily="18" charset="0"/>
                        </a:rPr>
                        <a:t>Metric</a:t>
                      </a:r>
                      <a:endParaRPr lang="en-US" sz="1500" cap="none" spc="0">
                        <a:solidFill>
                          <a:schemeClr val="tx1"/>
                        </a:solidFill>
                        <a:latin typeface="Times New Roman" panose="02020603050405020304" pitchFamily="18" charset="0"/>
                        <a:cs typeface="Times New Roman" panose="02020603050405020304" pitchFamily="18" charset="0"/>
                      </a:endParaRPr>
                    </a:p>
                  </a:txBody>
                  <a:tcPr marL="83071" marR="83071" marT="41536" marB="83071"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tc>
                  <a:txBody>
                    <a:bodyPr/>
                    <a:lstStyle/>
                    <a:p>
                      <a:r>
                        <a:rPr lang="en-US" sz="1500" b="1" cap="none" spc="0">
                          <a:solidFill>
                            <a:schemeClr val="tx1"/>
                          </a:solidFill>
                          <a:latin typeface="Times New Roman" panose="02020603050405020304" pitchFamily="18" charset="0"/>
                          <a:cs typeface="Times New Roman" panose="02020603050405020304" pitchFamily="18" charset="0"/>
                        </a:rPr>
                        <a:t>Before</a:t>
                      </a:r>
                      <a:endParaRPr lang="en-US" sz="1500" cap="none" spc="0">
                        <a:solidFill>
                          <a:schemeClr val="tx1"/>
                        </a:solidFill>
                        <a:latin typeface="Times New Roman" panose="02020603050405020304" pitchFamily="18" charset="0"/>
                        <a:cs typeface="Times New Roman" panose="02020603050405020304" pitchFamily="18" charset="0"/>
                      </a:endParaRPr>
                    </a:p>
                  </a:txBody>
                  <a:tcPr marL="83071" marR="83071" marT="41536" marB="83071"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tc>
                  <a:txBody>
                    <a:bodyPr/>
                    <a:lstStyle/>
                    <a:p>
                      <a:r>
                        <a:rPr lang="en-US" sz="1500" b="1" cap="none" spc="0">
                          <a:solidFill>
                            <a:schemeClr val="tx1"/>
                          </a:solidFill>
                          <a:latin typeface="Times New Roman" panose="02020603050405020304" pitchFamily="18" charset="0"/>
                          <a:cs typeface="Times New Roman" panose="02020603050405020304" pitchFamily="18" charset="0"/>
                        </a:rPr>
                        <a:t>After</a:t>
                      </a:r>
                      <a:endParaRPr lang="en-US" sz="1500" cap="none" spc="0">
                        <a:solidFill>
                          <a:schemeClr val="tx1"/>
                        </a:solidFill>
                        <a:latin typeface="Times New Roman" panose="02020603050405020304" pitchFamily="18" charset="0"/>
                        <a:cs typeface="Times New Roman" panose="02020603050405020304" pitchFamily="18" charset="0"/>
                      </a:endParaRPr>
                    </a:p>
                  </a:txBody>
                  <a:tcPr marL="83071" marR="83071" marT="41536" marB="83071"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tc>
                  <a:txBody>
                    <a:bodyPr/>
                    <a:lstStyle/>
                    <a:p>
                      <a:r>
                        <a:rPr lang="en-US" sz="1500" b="1" cap="none" spc="0">
                          <a:solidFill>
                            <a:schemeClr val="tx1"/>
                          </a:solidFill>
                          <a:latin typeface="Times New Roman" panose="02020603050405020304" pitchFamily="18" charset="0"/>
                          <a:cs typeface="Times New Roman" panose="02020603050405020304" pitchFamily="18" charset="0"/>
                        </a:rPr>
                        <a:t>Improvement</a:t>
                      </a:r>
                      <a:endParaRPr lang="en-US" sz="1500" cap="none" spc="0">
                        <a:solidFill>
                          <a:schemeClr val="tx1"/>
                        </a:solidFill>
                        <a:latin typeface="Times New Roman" panose="02020603050405020304" pitchFamily="18" charset="0"/>
                        <a:cs typeface="Times New Roman" panose="02020603050405020304" pitchFamily="18" charset="0"/>
                      </a:endParaRPr>
                    </a:p>
                  </a:txBody>
                  <a:tcPr marL="83071" marR="83071" marT="41536" marB="83071"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extLst>
                  <a:ext uri="{0D108BD9-81ED-4DB2-BD59-A6C34878D82A}">
                    <a16:rowId xmlns:a16="http://schemas.microsoft.com/office/drawing/2014/main" val="153880293"/>
                  </a:ext>
                </a:extLst>
              </a:tr>
              <a:tr h="600882">
                <a:tc>
                  <a:txBody>
                    <a:bodyPr/>
                    <a:lstStyle/>
                    <a:p>
                      <a:r>
                        <a:rPr lang="en-US" sz="1500" b="1" cap="none" spc="0" dirty="0">
                          <a:solidFill>
                            <a:schemeClr val="tx1"/>
                          </a:solidFill>
                          <a:latin typeface="Times New Roman" panose="02020603050405020304" pitchFamily="18" charset="0"/>
                          <a:cs typeface="Times New Roman" panose="02020603050405020304" pitchFamily="18" charset="0"/>
                        </a:rPr>
                        <a:t>Structural BOM Errors</a:t>
                      </a:r>
                      <a:endParaRPr lang="en-US" sz="1500" cap="none" spc="0" dirty="0">
                        <a:solidFill>
                          <a:schemeClr val="tx1"/>
                        </a:solidFill>
                        <a:latin typeface="Times New Roman" panose="02020603050405020304" pitchFamily="18" charset="0"/>
                        <a:cs typeface="Times New Roman" panose="02020603050405020304" pitchFamily="18" charset="0"/>
                      </a:endParaRPr>
                    </a:p>
                  </a:txBody>
                  <a:tcPr marL="83071" marR="83071" marT="41536" marB="8307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r>
                        <a:rPr lang="en-US" sz="1500" cap="none" spc="0">
                          <a:solidFill>
                            <a:schemeClr val="tx1"/>
                          </a:solidFill>
                          <a:latin typeface="Times New Roman" panose="02020603050405020304" pitchFamily="18" charset="0"/>
                          <a:cs typeface="Times New Roman" panose="02020603050405020304" pitchFamily="18" charset="0"/>
                        </a:rPr>
                        <a:t>60%</a:t>
                      </a:r>
                    </a:p>
                  </a:txBody>
                  <a:tcPr marL="83071" marR="83071" marT="41536" marB="8307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r>
                        <a:rPr lang="en-US" sz="1500" cap="none" spc="0">
                          <a:solidFill>
                            <a:schemeClr val="tx1"/>
                          </a:solidFill>
                          <a:latin typeface="Times New Roman" panose="02020603050405020304" pitchFamily="18" charset="0"/>
                          <a:cs typeface="Times New Roman" panose="02020603050405020304" pitchFamily="18" charset="0"/>
                        </a:rPr>
                        <a:t>24%</a:t>
                      </a:r>
                    </a:p>
                  </a:txBody>
                  <a:tcPr marL="83071" marR="83071" marT="41536" marB="8307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r>
                        <a:rPr lang="en-US" sz="1500" cap="none" spc="0">
                          <a:solidFill>
                            <a:schemeClr val="tx1"/>
                          </a:solidFill>
                          <a:latin typeface="Times New Roman" panose="02020603050405020304" pitchFamily="18" charset="0"/>
                          <a:cs typeface="Times New Roman" panose="02020603050405020304" pitchFamily="18" charset="0"/>
                        </a:rPr>
                        <a:t>↓ </a:t>
                      </a:r>
                      <a:r>
                        <a:rPr lang="en-US" sz="1500" b="1" cap="none" spc="0">
                          <a:solidFill>
                            <a:schemeClr val="tx1"/>
                          </a:solidFill>
                          <a:latin typeface="Times New Roman" panose="02020603050405020304" pitchFamily="18" charset="0"/>
                          <a:cs typeface="Times New Roman" panose="02020603050405020304" pitchFamily="18" charset="0"/>
                        </a:rPr>
                        <a:t>60%</a:t>
                      </a:r>
                      <a:endParaRPr lang="en-US" sz="1500" cap="none" spc="0">
                        <a:solidFill>
                          <a:schemeClr val="tx1"/>
                        </a:solidFill>
                        <a:latin typeface="Times New Roman" panose="02020603050405020304" pitchFamily="18" charset="0"/>
                        <a:cs typeface="Times New Roman" panose="02020603050405020304" pitchFamily="18" charset="0"/>
                      </a:endParaRPr>
                    </a:p>
                  </a:txBody>
                  <a:tcPr marL="83071" marR="83071" marT="41536" marB="8307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807232890"/>
                  </a:ext>
                </a:extLst>
              </a:tr>
              <a:tr h="822405">
                <a:tc>
                  <a:txBody>
                    <a:bodyPr/>
                    <a:lstStyle/>
                    <a:p>
                      <a:r>
                        <a:rPr lang="en-US" sz="1500" b="1" cap="none" spc="0" dirty="0">
                          <a:solidFill>
                            <a:schemeClr val="tx1"/>
                          </a:solidFill>
                          <a:latin typeface="Times New Roman" panose="02020603050405020304" pitchFamily="18" charset="0"/>
                          <a:cs typeface="Times New Roman" panose="02020603050405020304" pitchFamily="18" charset="0"/>
                        </a:rPr>
                        <a:t>Service Downtime (BOM-related)</a:t>
                      </a:r>
                      <a:endParaRPr lang="en-US" sz="1500" cap="none" spc="0" dirty="0">
                        <a:solidFill>
                          <a:schemeClr val="tx1"/>
                        </a:solidFill>
                        <a:latin typeface="Times New Roman" panose="02020603050405020304" pitchFamily="18" charset="0"/>
                        <a:cs typeface="Times New Roman" panose="02020603050405020304" pitchFamily="18" charset="0"/>
                      </a:endParaRPr>
                    </a:p>
                  </a:txBody>
                  <a:tcPr marL="83071" marR="83071" marT="41536" marB="8307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r>
                        <a:rPr lang="en-US" sz="1500" cap="none" spc="0">
                          <a:solidFill>
                            <a:schemeClr val="tx1"/>
                          </a:solidFill>
                          <a:latin typeface="Times New Roman" panose="02020603050405020304" pitchFamily="18" charset="0"/>
                          <a:cs typeface="Times New Roman" panose="02020603050405020304" pitchFamily="18" charset="0"/>
                        </a:rPr>
                        <a:t>$250K/year</a:t>
                      </a:r>
                    </a:p>
                  </a:txBody>
                  <a:tcPr marL="83071" marR="83071" marT="41536" marB="8307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r>
                        <a:rPr lang="en-US" sz="1500" cap="none" spc="0">
                          <a:solidFill>
                            <a:schemeClr val="tx1"/>
                          </a:solidFill>
                          <a:latin typeface="Times New Roman" panose="02020603050405020304" pitchFamily="18" charset="0"/>
                          <a:cs typeface="Times New Roman" panose="02020603050405020304" pitchFamily="18" charset="0"/>
                        </a:rPr>
                        <a:t>$175K/year</a:t>
                      </a:r>
                    </a:p>
                  </a:txBody>
                  <a:tcPr marL="83071" marR="83071" marT="41536" marB="8307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r>
                        <a:rPr lang="en-US" sz="1500" cap="none" spc="0">
                          <a:solidFill>
                            <a:schemeClr val="tx1"/>
                          </a:solidFill>
                          <a:latin typeface="Times New Roman" panose="02020603050405020304" pitchFamily="18" charset="0"/>
                          <a:cs typeface="Times New Roman" panose="02020603050405020304" pitchFamily="18" charset="0"/>
                        </a:rPr>
                        <a:t>↓ </a:t>
                      </a:r>
                      <a:r>
                        <a:rPr lang="en-US" sz="1500" b="1" cap="none" spc="0">
                          <a:solidFill>
                            <a:schemeClr val="tx1"/>
                          </a:solidFill>
                          <a:latin typeface="Times New Roman" panose="02020603050405020304" pitchFamily="18" charset="0"/>
                          <a:cs typeface="Times New Roman" panose="02020603050405020304" pitchFamily="18" charset="0"/>
                        </a:rPr>
                        <a:t>30%</a:t>
                      </a:r>
                      <a:endParaRPr lang="en-US" sz="1500" cap="none" spc="0">
                        <a:solidFill>
                          <a:schemeClr val="tx1"/>
                        </a:solidFill>
                        <a:latin typeface="Times New Roman" panose="02020603050405020304" pitchFamily="18" charset="0"/>
                        <a:cs typeface="Times New Roman" panose="02020603050405020304" pitchFamily="18" charset="0"/>
                      </a:endParaRPr>
                    </a:p>
                  </a:txBody>
                  <a:tcPr marL="83071" marR="83071" marT="41536" marB="8307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69654036"/>
                  </a:ext>
                </a:extLst>
              </a:tr>
              <a:tr h="379359">
                <a:tc>
                  <a:txBody>
                    <a:bodyPr/>
                    <a:lstStyle/>
                    <a:p>
                      <a:r>
                        <a:rPr lang="en-US" sz="1500" b="1" cap="none" spc="0" dirty="0">
                          <a:solidFill>
                            <a:schemeClr val="tx1"/>
                          </a:solidFill>
                          <a:latin typeface="Times New Roman" panose="02020603050405020304" pitchFamily="18" charset="0"/>
                          <a:cs typeface="Times New Roman" panose="02020603050405020304" pitchFamily="18" charset="0"/>
                        </a:rPr>
                        <a:t>ECR Cycle Time</a:t>
                      </a:r>
                      <a:endParaRPr lang="en-US" sz="1500" cap="none" spc="0" dirty="0">
                        <a:solidFill>
                          <a:schemeClr val="tx1"/>
                        </a:solidFill>
                        <a:latin typeface="Times New Roman" panose="02020603050405020304" pitchFamily="18" charset="0"/>
                        <a:cs typeface="Times New Roman" panose="02020603050405020304" pitchFamily="18" charset="0"/>
                      </a:endParaRPr>
                    </a:p>
                  </a:txBody>
                  <a:tcPr marL="83071" marR="83071" marT="41536" marB="8307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r>
                        <a:rPr lang="en-US" sz="1500" cap="none" spc="0">
                          <a:solidFill>
                            <a:schemeClr val="tx1"/>
                          </a:solidFill>
                          <a:latin typeface="Times New Roman" panose="02020603050405020304" pitchFamily="18" charset="0"/>
                          <a:cs typeface="Times New Roman" panose="02020603050405020304" pitchFamily="18" charset="0"/>
                        </a:rPr>
                        <a:t>7 days</a:t>
                      </a:r>
                    </a:p>
                  </a:txBody>
                  <a:tcPr marL="83071" marR="83071" marT="41536" marB="8307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r>
                        <a:rPr lang="en-US" sz="1500" cap="none" spc="0">
                          <a:solidFill>
                            <a:schemeClr val="tx1"/>
                          </a:solidFill>
                          <a:latin typeface="Times New Roman" panose="02020603050405020304" pitchFamily="18" charset="0"/>
                          <a:cs typeface="Times New Roman" panose="02020603050405020304" pitchFamily="18" charset="0"/>
                        </a:rPr>
                        <a:t>5 days</a:t>
                      </a:r>
                    </a:p>
                  </a:txBody>
                  <a:tcPr marL="83071" marR="83071" marT="41536" marB="8307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r>
                        <a:rPr lang="en-US" sz="1500" cap="none" spc="0">
                          <a:solidFill>
                            <a:schemeClr val="tx1"/>
                          </a:solidFill>
                          <a:latin typeface="Times New Roman" panose="02020603050405020304" pitchFamily="18" charset="0"/>
                          <a:cs typeface="Times New Roman" panose="02020603050405020304" pitchFamily="18" charset="0"/>
                        </a:rPr>
                        <a:t>↓ </a:t>
                      </a:r>
                      <a:r>
                        <a:rPr lang="en-US" sz="1500" b="1" cap="none" spc="0">
                          <a:solidFill>
                            <a:schemeClr val="tx1"/>
                          </a:solidFill>
                          <a:latin typeface="Times New Roman" panose="02020603050405020304" pitchFamily="18" charset="0"/>
                          <a:cs typeface="Times New Roman" panose="02020603050405020304" pitchFamily="18" charset="0"/>
                        </a:rPr>
                        <a:t>28%</a:t>
                      </a:r>
                      <a:endParaRPr lang="en-US" sz="1500" cap="none" spc="0">
                        <a:solidFill>
                          <a:schemeClr val="tx1"/>
                        </a:solidFill>
                        <a:latin typeface="Times New Roman" panose="02020603050405020304" pitchFamily="18" charset="0"/>
                        <a:cs typeface="Times New Roman" panose="02020603050405020304" pitchFamily="18" charset="0"/>
                      </a:endParaRPr>
                    </a:p>
                  </a:txBody>
                  <a:tcPr marL="83071" marR="83071" marT="41536" marB="8307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018829829"/>
                  </a:ext>
                </a:extLst>
              </a:tr>
              <a:tr h="379359">
                <a:tc>
                  <a:txBody>
                    <a:bodyPr/>
                    <a:lstStyle/>
                    <a:p>
                      <a:r>
                        <a:rPr lang="en-US" sz="1500" b="1" cap="none" spc="0">
                          <a:solidFill>
                            <a:schemeClr val="tx1"/>
                          </a:solidFill>
                          <a:latin typeface="Times New Roman" panose="02020603050405020304" pitchFamily="18" charset="0"/>
                          <a:cs typeface="Times New Roman" panose="02020603050405020304" pitchFamily="18" charset="0"/>
                        </a:rPr>
                        <a:t>BOM Accuracy</a:t>
                      </a:r>
                      <a:endParaRPr lang="en-US" sz="1500" cap="none" spc="0">
                        <a:solidFill>
                          <a:schemeClr val="tx1"/>
                        </a:solidFill>
                        <a:latin typeface="Times New Roman" panose="02020603050405020304" pitchFamily="18" charset="0"/>
                        <a:cs typeface="Times New Roman" panose="02020603050405020304" pitchFamily="18" charset="0"/>
                      </a:endParaRPr>
                    </a:p>
                  </a:txBody>
                  <a:tcPr marL="83071" marR="83071" marT="41536" marB="83071"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r>
                        <a:rPr lang="en-US" sz="1500" cap="none" spc="0">
                          <a:solidFill>
                            <a:schemeClr val="tx1"/>
                          </a:solidFill>
                          <a:latin typeface="Times New Roman" panose="02020603050405020304" pitchFamily="18" charset="0"/>
                          <a:cs typeface="Times New Roman" panose="02020603050405020304" pitchFamily="18" charset="0"/>
                        </a:rPr>
                        <a:t>~90%</a:t>
                      </a:r>
                    </a:p>
                  </a:txBody>
                  <a:tcPr marL="83071" marR="83071" marT="41536" marB="83071"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r>
                        <a:rPr lang="en-US" sz="1500" cap="none" spc="0">
                          <a:solidFill>
                            <a:schemeClr val="tx1"/>
                          </a:solidFill>
                          <a:latin typeface="Times New Roman" panose="02020603050405020304" pitchFamily="18" charset="0"/>
                          <a:cs typeface="Times New Roman" panose="02020603050405020304" pitchFamily="18" charset="0"/>
                        </a:rPr>
                        <a:t>&gt;99%</a:t>
                      </a:r>
                    </a:p>
                  </a:txBody>
                  <a:tcPr marL="83071" marR="83071" marT="41536" marB="83071"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r>
                        <a:rPr lang="en-US" sz="1500" cap="none" spc="0" dirty="0">
                          <a:solidFill>
                            <a:schemeClr val="tx1"/>
                          </a:solidFill>
                          <a:latin typeface="Times New Roman" panose="02020603050405020304" pitchFamily="18" charset="0"/>
                          <a:cs typeface="Times New Roman" panose="02020603050405020304" pitchFamily="18" charset="0"/>
                        </a:rPr>
                        <a:t>↑ </a:t>
                      </a:r>
                      <a:r>
                        <a:rPr lang="en-US" sz="1500" b="1" cap="none" spc="0" dirty="0">
                          <a:solidFill>
                            <a:schemeClr val="tx1"/>
                          </a:solidFill>
                          <a:latin typeface="Times New Roman" panose="02020603050405020304" pitchFamily="18" charset="0"/>
                          <a:cs typeface="Times New Roman" panose="02020603050405020304" pitchFamily="18" charset="0"/>
                        </a:rPr>
                        <a:t>10%+</a:t>
                      </a:r>
                      <a:endParaRPr lang="en-US" sz="1500" cap="none" spc="0" dirty="0">
                        <a:solidFill>
                          <a:schemeClr val="tx1"/>
                        </a:solidFill>
                        <a:latin typeface="Times New Roman" panose="02020603050405020304" pitchFamily="18" charset="0"/>
                        <a:cs typeface="Times New Roman" panose="02020603050405020304" pitchFamily="18" charset="0"/>
                      </a:endParaRPr>
                    </a:p>
                  </a:txBody>
                  <a:tcPr marL="83071" marR="83071" marT="41536" marB="83071"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extLst>
                  <a:ext uri="{0D108BD9-81ED-4DB2-BD59-A6C34878D82A}">
                    <a16:rowId xmlns:a16="http://schemas.microsoft.com/office/drawing/2014/main" val="2751529768"/>
                  </a:ext>
                </a:extLst>
              </a:tr>
            </a:tbl>
          </a:graphicData>
        </a:graphic>
      </p:graphicFrame>
      <p:sp>
        <p:nvSpPr>
          <p:cNvPr id="14" name="TextBox 13">
            <a:extLst>
              <a:ext uri="{FF2B5EF4-FFF2-40B4-BE49-F238E27FC236}">
                <a16:creationId xmlns:a16="http://schemas.microsoft.com/office/drawing/2014/main" id="{AA62599D-6F00-256F-19F5-8B44B6633B46}"/>
              </a:ext>
            </a:extLst>
          </p:cNvPr>
          <p:cNvSpPr txBox="1"/>
          <p:nvPr/>
        </p:nvSpPr>
        <p:spPr>
          <a:xfrm>
            <a:off x="8425557" y="6426665"/>
            <a:ext cx="4885487" cy="477054"/>
          </a:xfrm>
          <a:prstGeom prst="rect">
            <a:avLst/>
          </a:prstGeom>
          <a:noFill/>
        </p:spPr>
        <p:txBody>
          <a:bodyPr wrap="square" rtlCol="0">
            <a:spAutoFit/>
          </a:bodyPr>
          <a:lstStyle/>
          <a:p>
            <a:r>
              <a:rPr lang="en-US" sz="1100" dirty="0"/>
              <a:t>“Based on field KPIs tracked at Daimler Trucks (2021–2023)”</a:t>
            </a:r>
            <a:br>
              <a:rPr lang="en-US" sz="1400" dirty="0">
                <a:solidFill>
                  <a:srgbClr val="3C3939"/>
                </a:solidFill>
                <a:latin typeface="Roboto" pitchFamily="34" charset="0"/>
                <a:ea typeface="Roboto" pitchFamily="34" charset="-122"/>
                <a:cs typeface="Roboto" pitchFamily="34" charset="-120"/>
              </a:rPr>
            </a:br>
            <a:endParaRPr lang="en-US" sz="1400" dirty="0">
              <a:solidFill>
                <a:srgbClr val="3C3939"/>
              </a:solidFill>
              <a:latin typeface="Roboto" pitchFamily="34" charset="0"/>
              <a:ea typeface="Roboto" pitchFamily="34" charset="-122"/>
              <a:cs typeface="Roboto" pitchFamily="34" charset="-120"/>
            </a:endParaRPr>
          </a:p>
        </p:txBody>
      </p:sp>
    </p:spTree>
    <p:extLst>
      <p:ext uri="{BB962C8B-B14F-4D97-AF65-F5344CB8AC3E}">
        <p14:creationId xmlns:p14="http://schemas.microsoft.com/office/powerpoint/2010/main" val="761876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1D50C6E2-8CC6-BA7C-A4D1-D8469D8A0B37}"/>
              </a:ext>
            </a:extLst>
          </p:cNvPr>
          <p:cNvPicPr>
            <a:picLocks noChangeAspect="1"/>
          </p:cNvPicPr>
          <p:nvPr/>
        </p:nvPicPr>
        <p:blipFill>
          <a:blip r:embed="rId3"/>
          <a:stretch>
            <a:fillRect/>
          </a:stretch>
        </p:blipFill>
        <p:spPr>
          <a:xfrm>
            <a:off x="7749381" y="0"/>
            <a:ext cx="4442619" cy="6858000"/>
          </a:xfrm>
          <a:prstGeom prst="rect">
            <a:avLst/>
          </a:prstGeom>
        </p:spPr>
      </p:pic>
      <p:sp>
        <p:nvSpPr>
          <p:cNvPr id="5" name="Text 0">
            <a:extLst>
              <a:ext uri="{FF2B5EF4-FFF2-40B4-BE49-F238E27FC236}">
                <a16:creationId xmlns:a16="http://schemas.microsoft.com/office/drawing/2014/main" id="{A7C84993-8D54-5332-3502-9A104852D37F}"/>
              </a:ext>
            </a:extLst>
          </p:cNvPr>
          <p:cNvSpPr/>
          <p:nvPr/>
        </p:nvSpPr>
        <p:spPr>
          <a:xfrm>
            <a:off x="146238" y="249136"/>
            <a:ext cx="7466592" cy="1133561"/>
          </a:xfrm>
          <a:prstGeom prst="rect">
            <a:avLst/>
          </a:prstGeom>
          <a:noFill/>
          <a:ln/>
        </p:spPr>
        <p:txBody>
          <a:bodyPr wrap="square" lIns="0" tIns="0" rIns="0" bIns="0" rtlCol="0" anchor="t"/>
          <a:lstStyle/>
          <a:p>
            <a:pPr marL="0" indent="0" algn="l">
              <a:lnSpc>
                <a:spcPts val="5400"/>
              </a:lnSpc>
              <a:buNone/>
            </a:pPr>
            <a:r>
              <a:rPr lang="en-US" sz="3600" dirty="0">
                <a:solidFill>
                  <a:srgbClr val="1B1B27"/>
                </a:solidFill>
                <a:latin typeface="Times New Roman" panose="02020603050405020304" pitchFamily="18" charset="0"/>
                <a:ea typeface="Raleway" pitchFamily="34" charset="-122"/>
                <a:cs typeface="Times New Roman" panose="02020603050405020304" pitchFamily="18" charset="0"/>
              </a:rPr>
              <a:t>Control: Sustaining BOM Excellence</a:t>
            </a:r>
          </a:p>
        </p:txBody>
      </p:sp>
      <p:pic>
        <p:nvPicPr>
          <p:cNvPr id="6" name="Image 1" descr="preencoded.png">
            <a:extLst>
              <a:ext uri="{FF2B5EF4-FFF2-40B4-BE49-F238E27FC236}">
                <a16:creationId xmlns:a16="http://schemas.microsoft.com/office/drawing/2014/main" id="{4F2DCC46-661E-7E65-48A2-870C4420FDB7}"/>
              </a:ext>
            </a:extLst>
          </p:cNvPr>
          <p:cNvPicPr>
            <a:picLocks noChangeAspect="1"/>
          </p:cNvPicPr>
          <p:nvPr/>
        </p:nvPicPr>
        <p:blipFill>
          <a:blip r:embed="rId4"/>
          <a:stretch>
            <a:fillRect/>
          </a:stretch>
        </p:blipFill>
        <p:spPr>
          <a:xfrm>
            <a:off x="542931" y="1161837"/>
            <a:ext cx="946491" cy="976484"/>
          </a:xfrm>
          <a:prstGeom prst="rect">
            <a:avLst/>
          </a:prstGeom>
        </p:spPr>
      </p:pic>
      <p:sp>
        <p:nvSpPr>
          <p:cNvPr id="7" name="Text 1">
            <a:extLst>
              <a:ext uri="{FF2B5EF4-FFF2-40B4-BE49-F238E27FC236}">
                <a16:creationId xmlns:a16="http://schemas.microsoft.com/office/drawing/2014/main" id="{2D5DE577-9E78-D986-0BCC-20866386C0C1}"/>
              </a:ext>
            </a:extLst>
          </p:cNvPr>
          <p:cNvSpPr/>
          <p:nvPr/>
        </p:nvSpPr>
        <p:spPr>
          <a:xfrm>
            <a:off x="1834919" y="1237367"/>
            <a:ext cx="2509996" cy="195456"/>
          </a:xfrm>
          <a:prstGeom prst="rect">
            <a:avLst/>
          </a:prstGeom>
          <a:noFill/>
          <a:ln/>
        </p:spPr>
        <p:txBody>
          <a:bodyPr wrap="none" lIns="0" tIns="0" rIns="0" bIns="0" rtlCol="0" anchor="t"/>
          <a:lstStyle/>
          <a:p>
            <a:pPr>
              <a:lnSpc>
                <a:spcPts val="2700"/>
              </a:lnSpc>
            </a:pPr>
            <a:r>
              <a:rPr lang="en-US" b="1" dirty="0">
                <a:latin typeface="Times New Roman" panose="02020603050405020304" pitchFamily="18" charset="0"/>
                <a:cs typeface="Times New Roman" panose="02020603050405020304" pitchFamily="18" charset="0"/>
              </a:rPr>
              <a:t>PLM-Driven Structural Checkpoints</a:t>
            </a:r>
          </a:p>
          <a:p>
            <a:pPr marL="0" indent="0" algn="l">
              <a:lnSpc>
                <a:spcPts val="2700"/>
              </a:lnSpc>
              <a:buNone/>
            </a:pPr>
            <a:r>
              <a:rPr lang="en-US" sz="1400" dirty="0">
                <a:latin typeface="Times New Roman" panose="02020603050405020304" pitchFamily="18" charset="0"/>
                <a:cs typeface="Times New Roman" panose="02020603050405020304" pitchFamily="18" charset="0"/>
              </a:rPr>
              <a:t>Validation gates in Teamcenter flagged incomplete structures before release</a:t>
            </a:r>
            <a:r>
              <a:rPr lang="en-US" sz="1200" dirty="0">
                <a:latin typeface="Times New Roman" panose="02020603050405020304" pitchFamily="18" charset="0"/>
                <a:cs typeface="Times New Roman" panose="02020603050405020304" pitchFamily="18" charset="0"/>
              </a:rPr>
              <a:t>.</a:t>
            </a:r>
          </a:p>
        </p:txBody>
      </p:sp>
      <p:pic>
        <p:nvPicPr>
          <p:cNvPr id="9" name="Image 2" descr="preencoded.png">
            <a:extLst>
              <a:ext uri="{FF2B5EF4-FFF2-40B4-BE49-F238E27FC236}">
                <a16:creationId xmlns:a16="http://schemas.microsoft.com/office/drawing/2014/main" id="{E2FC3F1C-8BF0-628C-050E-7487F77FEBA3}"/>
              </a:ext>
            </a:extLst>
          </p:cNvPr>
          <p:cNvPicPr>
            <a:picLocks noChangeAspect="1"/>
          </p:cNvPicPr>
          <p:nvPr/>
        </p:nvPicPr>
        <p:blipFill>
          <a:blip r:embed="rId5"/>
          <a:stretch>
            <a:fillRect/>
          </a:stretch>
        </p:blipFill>
        <p:spPr>
          <a:xfrm>
            <a:off x="542931" y="2487122"/>
            <a:ext cx="946491" cy="976484"/>
          </a:xfrm>
          <a:prstGeom prst="rect">
            <a:avLst/>
          </a:prstGeom>
        </p:spPr>
      </p:pic>
      <p:sp>
        <p:nvSpPr>
          <p:cNvPr id="10" name="Text 3">
            <a:extLst>
              <a:ext uri="{FF2B5EF4-FFF2-40B4-BE49-F238E27FC236}">
                <a16:creationId xmlns:a16="http://schemas.microsoft.com/office/drawing/2014/main" id="{5020B3B1-453A-827D-EE1A-B1C054E58E4F}"/>
              </a:ext>
            </a:extLst>
          </p:cNvPr>
          <p:cNvSpPr/>
          <p:nvPr/>
        </p:nvSpPr>
        <p:spPr>
          <a:xfrm>
            <a:off x="1834919" y="2465000"/>
            <a:ext cx="2366329" cy="195456"/>
          </a:xfrm>
          <a:prstGeom prst="rect">
            <a:avLst/>
          </a:prstGeom>
          <a:noFill/>
          <a:ln/>
        </p:spPr>
        <p:txBody>
          <a:bodyPr wrap="none" lIns="0" tIns="0" rIns="0" bIns="0" rtlCol="0" anchor="t"/>
          <a:lstStyle/>
          <a:p>
            <a:pPr marL="0" indent="0" algn="l">
              <a:lnSpc>
                <a:spcPts val="2700"/>
              </a:lnSpc>
              <a:buNone/>
            </a:pPr>
            <a:r>
              <a:rPr lang="en-US" b="1" dirty="0">
                <a:latin typeface="Times New Roman" panose="02020603050405020304" pitchFamily="18" charset="0"/>
                <a:cs typeface="Times New Roman" panose="02020603050405020304" pitchFamily="18" charset="0"/>
              </a:rPr>
              <a:t>Live Exception Monitoring via SAP Reports</a:t>
            </a:r>
          </a:p>
        </p:txBody>
      </p:sp>
      <p:sp>
        <p:nvSpPr>
          <p:cNvPr id="11" name="Text 4">
            <a:extLst>
              <a:ext uri="{FF2B5EF4-FFF2-40B4-BE49-F238E27FC236}">
                <a16:creationId xmlns:a16="http://schemas.microsoft.com/office/drawing/2014/main" id="{0A6277D2-DA23-1F4E-2C71-44F083389F15}"/>
              </a:ext>
            </a:extLst>
          </p:cNvPr>
          <p:cNvSpPr/>
          <p:nvPr/>
        </p:nvSpPr>
        <p:spPr>
          <a:xfrm>
            <a:off x="1834919" y="2761429"/>
            <a:ext cx="6162199" cy="353378"/>
          </a:xfrm>
          <a:prstGeom prst="rect">
            <a:avLst/>
          </a:prstGeom>
          <a:noFill/>
          <a:ln/>
        </p:spPr>
        <p:txBody>
          <a:bodyPr wrap="none" lIns="0" tIns="0" rIns="0" bIns="0" rtlCol="0" anchor="t"/>
          <a:lstStyle/>
          <a:p>
            <a:pPr marL="0" indent="0" algn="l">
              <a:lnSpc>
                <a:spcPts val="2750"/>
              </a:lnSpc>
              <a:buNone/>
            </a:pPr>
            <a:r>
              <a:rPr lang="en-US" sz="1400" dirty="0">
                <a:latin typeface="Times New Roman" panose="02020603050405020304" pitchFamily="18" charset="0"/>
                <a:cs typeface="Times New Roman" panose="02020603050405020304" pitchFamily="18" charset="0"/>
              </a:rPr>
              <a:t>Biweekly reports tracked supersession gaps and unlinked parts.</a:t>
            </a:r>
          </a:p>
        </p:txBody>
      </p:sp>
      <p:pic>
        <p:nvPicPr>
          <p:cNvPr id="12" name="Image 3" descr="preencoded.png">
            <a:extLst>
              <a:ext uri="{FF2B5EF4-FFF2-40B4-BE49-F238E27FC236}">
                <a16:creationId xmlns:a16="http://schemas.microsoft.com/office/drawing/2014/main" id="{FEF49EA8-951E-F57A-07B1-7BE03F3E7FA1}"/>
              </a:ext>
            </a:extLst>
          </p:cNvPr>
          <p:cNvPicPr>
            <a:picLocks noChangeAspect="1"/>
          </p:cNvPicPr>
          <p:nvPr/>
        </p:nvPicPr>
        <p:blipFill>
          <a:blip r:embed="rId6"/>
          <a:stretch>
            <a:fillRect/>
          </a:stretch>
        </p:blipFill>
        <p:spPr>
          <a:xfrm>
            <a:off x="542931" y="3812406"/>
            <a:ext cx="946491" cy="1041469"/>
          </a:xfrm>
          <a:prstGeom prst="rect">
            <a:avLst/>
          </a:prstGeom>
        </p:spPr>
      </p:pic>
      <p:sp>
        <p:nvSpPr>
          <p:cNvPr id="13" name="Text 5">
            <a:extLst>
              <a:ext uri="{FF2B5EF4-FFF2-40B4-BE49-F238E27FC236}">
                <a16:creationId xmlns:a16="http://schemas.microsoft.com/office/drawing/2014/main" id="{2882E25E-696F-1BA4-B028-D1B071C6F7CB}"/>
              </a:ext>
            </a:extLst>
          </p:cNvPr>
          <p:cNvSpPr/>
          <p:nvPr/>
        </p:nvSpPr>
        <p:spPr>
          <a:xfrm>
            <a:off x="1831128" y="3820795"/>
            <a:ext cx="2366329" cy="195456"/>
          </a:xfrm>
          <a:prstGeom prst="rect">
            <a:avLst/>
          </a:prstGeom>
          <a:noFill/>
          <a:ln/>
        </p:spPr>
        <p:txBody>
          <a:bodyPr wrap="none" lIns="0" tIns="0" rIns="0" bIns="0" rtlCol="0" anchor="t"/>
          <a:lstStyle/>
          <a:p>
            <a:pPr marL="0" indent="0" algn="l">
              <a:lnSpc>
                <a:spcPts val="2700"/>
              </a:lnSpc>
              <a:buNone/>
            </a:pPr>
            <a:r>
              <a:rPr lang="en-US" b="1" dirty="0">
                <a:latin typeface="Times New Roman" panose="02020603050405020304" pitchFamily="18" charset="0"/>
                <a:cs typeface="Times New Roman" panose="02020603050405020304" pitchFamily="18" charset="0"/>
              </a:rPr>
              <a:t>Monthly BOM Triage with Engineering &amp; Service</a:t>
            </a:r>
          </a:p>
        </p:txBody>
      </p:sp>
      <p:sp>
        <p:nvSpPr>
          <p:cNvPr id="14" name="Text 6">
            <a:extLst>
              <a:ext uri="{FF2B5EF4-FFF2-40B4-BE49-F238E27FC236}">
                <a16:creationId xmlns:a16="http://schemas.microsoft.com/office/drawing/2014/main" id="{03DDD01C-8B4E-A512-0D71-3AC94706DA97}"/>
              </a:ext>
            </a:extLst>
          </p:cNvPr>
          <p:cNvSpPr/>
          <p:nvPr/>
        </p:nvSpPr>
        <p:spPr>
          <a:xfrm>
            <a:off x="1834919" y="4242612"/>
            <a:ext cx="6162199" cy="353378"/>
          </a:xfrm>
          <a:prstGeom prst="rect">
            <a:avLst/>
          </a:prstGeom>
          <a:noFill/>
          <a:ln/>
        </p:spPr>
        <p:txBody>
          <a:bodyPr wrap="none" lIns="0" tIns="0" rIns="0" bIns="0" rtlCol="0" anchor="t"/>
          <a:lstStyle/>
          <a:p>
            <a:r>
              <a:rPr lang="en-US" sz="1400" dirty="0">
                <a:latin typeface="Times New Roman" panose="02020603050405020304" pitchFamily="18" charset="0"/>
                <a:cs typeface="Times New Roman" panose="02020603050405020304" pitchFamily="18" charset="0"/>
              </a:rPr>
              <a:t>Monthly triage on top 5% high-error assemblies using audit + field data</a:t>
            </a:r>
            <a:r>
              <a:rPr lang="en-US" sz="1400" dirty="0"/>
              <a:t>.</a:t>
            </a:r>
          </a:p>
        </p:txBody>
      </p:sp>
      <p:pic>
        <p:nvPicPr>
          <p:cNvPr id="15" name="Image 4" descr="preencoded.png">
            <a:extLst>
              <a:ext uri="{FF2B5EF4-FFF2-40B4-BE49-F238E27FC236}">
                <a16:creationId xmlns:a16="http://schemas.microsoft.com/office/drawing/2014/main" id="{FD4AEB10-3212-AE33-F769-8964DD927A2C}"/>
              </a:ext>
            </a:extLst>
          </p:cNvPr>
          <p:cNvPicPr>
            <a:picLocks noChangeAspect="1"/>
          </p:cNvPicPr>
          <p:nvPr/>
        </p:nvPicPr>
        <p:blipFill>
          <a:blip r:embed="rId7"/>
          <a:stretch>
            <a:fillRect/>
          </a:stretch>
        </p:blipFill>
        <p:spPr>
          <a:xfrm>
            <a:off x="542931" y="5137691"/>
            <a:ext cx="946491" cy="1041470"/>
          </a:xfrm>
          <a:prstGeom prst="rect">
            <a:avLst/>
          </a:prstGeom>
        </p:spPr>
      </p:pic>
      <p:sp>
        <p:nvSpPr>
          <p:cNvPr id="16" name="Text 7">
            <a:extLst>
              <a:ext uri="{FF2B5EF4-FFF2-40B4-BE49-F238E27FC236}">
                <a16:creationId xmlns:a16="http://schemas.microsoft.com/office/drawing/2014/main" id="{E2CE62CC-DB06-6D49-62E6-3B02C63DE455}"/>
              </a:ext>
            </a:extLst>
          </p:cNvPr>
          <p:cNvSpPr/>
          <p:nvPr/>
        </p:nvSpPr>
        <p:spPr>
          <a:xfrm>
            <a:off x="1831128" y="5144056"/>
            <a:ext cx="2366329" cy="195456"/>
          </a:xfrm>
          <a:prstGeom prst="rect">
            <a:avLst/>
          </a:prstGeom>
          <a:noFill/>
          <a:ln/>
        </p:spPr>
        <p:txBody>
          <a:bodyPr wrap="none" lIns="0" tIns="0" rIns="0" bIns="0" rtlCol="0" anchor="t"/>
          <a:lstStyle/>
          <a:p>
            <a:pPr marL="0" indent="0" algn="l">
              <a:lnSpc>
                <a:spcPts val="2700"/>
              </a:lnSpc>
              <a:buNone/>
            </a:pPr>
            <a:r>
              <a:rPr lang="en-US" b="1" dirty="0">
                <a:latin typeface="Times New Roman" panose="02020603050405020304" pitchFamily="18" charset="0"/>
                <a:cs typeface="Times New Roman" panose="02020603050405020304" pitchFamily="18" charset="0"/>
              </a:rPr>
              <a:t>Field Feedback → Engineering Loop</a:t>
            </a:r>
          </a:p>
        </p:txBody>
      </p:sp>
      <p:sp>
        <p:nvSpPr>
          <p:cNvPr id="3" name="TextBox 2">
            <a:extLst>
              <a:ext uri="{FF2B5EF4-FFF2-40B4-BE49-F238E27FC236}">
                <a16:creationId xmlns:a16="http://schemas.microsoft.com/office/drawing/2014/main" id="{335D657C-EE9B-F285-3B3D-B8C71100A240}"/>
              </a:ext>
            </a:extLst>
          </p:cNvPr>
          <p:cNvSpPr txBox="1"/>
          <p:nvPr/>
        </p:nvSpPr>
        <p:spPr>
          <a:xfrm>
            <a:off x="1737736" y="5484512"/>
            <a:ext cx="6185646" cy="307777"/>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Field teams submitted BOM fixes via Teamcenter; changes audit-tracked.</a:t>
            </a:r>
          </a:p>
        </p:txBody>
      </p:sp>
    </p:spTree>
    <p:extLst>
      <p:ext uri="{BB962C8B-B14F-4D97-AF65-F5344CB8AC3E}">
        <p14:creationId xmlns:p14="http://schemas.microsoft.com/office/powerpoint/2010/main" val="600072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BC68A55F-7B32-44D8-AEE5-1AF405326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D7EC8F-844E-2595-5A67-3804726F995A}"/>
              </a:ext>
            </a:extLst>
          </p:cNvPr>
          <p:cNvSpPr>
            <a:spLocks noGrp="1"/>
          </p:cNvSpPr>
          <p:nvPr>
            <p:ph type="title"/>
          </p:nvPr>
        </p:nvSpPr>
        <p:spPr>
          <a:xfrm>
            <a:off x="655320" y="429030"/>
            <a:ext cx="2834640" cy="5457589"/>
          </a:xfrm>
        </p:spPr>
        <p:txBody>
          <a:bodyPr vert="horz" lIns="91440" tIns="45720" rIns="91440" bIns="45720" rtlCol="0" anchor="ctr">
            <a:normAutofit/>
          </a:bodyPr>
          <a:lstStyle/>
          <a:p>
            <a:r>
              <a:rPr lang="en-US" sz="4000" b="1" kern="1200">
                <a:solidFill>
                  <a:schemeClr val="tx1"/>
                </a:solidFill>
                <a:latin typeface="+mj-lt"/>
                <a:ea typeface="+mj-ea"/>
                <a:cs typeface="+mj-cs"/>
              </a:rPr>
              <a:t>Conclusion: Achieving Zero Downtime with Robust BOMs</a:t>
            </a:r>
            <a:br>
              <a:rPr lang="en-US" sz="4000" kern="1200">
                <a:solidFill>
                  <a:schemeClr val="tx1"/>
                </a:solidFill>
                <a:latin typeface="+mj-lt"/>
                <a:ea typeface="+mj-ea"/>
                <a:cs typeface="+mj-cs"/>
              </a:rPr>
            </a:br>
            <a:endParaRPr lang="en-US" sz="4000" kern="1200">
              <a:solidFill>
                <a:schemeClr val="tx1"/>
              </a:solidFill>
              <a:latin typeface="+mj-lt"/>
              <a:ea typeface="+mj-ea"/>
              <a:cs typeface="+mj-cs"/>
            </a:endParaRPr>
          </a:p>
        </p:txBody>
      </p:sp>
      <p:sp>
        <p:nvSpPr>
          <p:cNvPr id="52" name="Rectangle 51">
            <a:extLst>
              <a:ext uri="{FF2B5EF4-FFF2-40B4-BE49-F238E27FC236}">
                <a16:creationId xmlns:a16="http://schemas.microsoft.com/office/drawing/2014/main" id="{CD1AAA2C-FBBE-42AA-B869-31D524B76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5320" y="6112341"/>
            <a:ext cx="10835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3" name="Rectangle 52">
            <a:extLst>
              <a:ext uri="{FF2B5EF4-FFF2-40B4-BE49-F238E27FC236}">
                <a16:creationId xmlns:a16="http://schemas.microsoft.com/office/drawing/2014/main" id="{5F937BBF-9326-4230-AB1B-F1795E350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045208" y="4686084"/>
            <a:ext cx="54864" cy="2834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4" name="TextBox 4">
            <a:extLst>
              <a:ext uri="{FF2B5EF4-FFF2-40B4-BE49-F238E27FC236}">
                <a16:creationId xmlns:a16="http://schemas.microsoft.com/office/drawing/2014/main" id="{A98DEB0A-6490-A471-F039-A4F802D17BEC}"/>
              </a:ext>
            </a:extLst>
          </p:cNvPr>
          <p:cNvGraphicFramePr/>
          <p:nvPr>
            <p:extLst>
              <p:ext uri="{D42A27DB-BD31-4B8C-83A1-F6EECF244321}">
                <p14:modId xmlns:p14="http://schemas.microsoft.com/office/powerpoint/2010/main" val="527996017"/>
              </p:ext>
            </p:extLst>
          </p:nvPr>
        </p:nvGraphicFramePr>
        <p:xfrm>
          <a:off x="4041648" y="429030"/>
          <a:ext cx="7452360" cy="54597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B87BAB82-F2F9-4357-B340-873099E9DAAD}"/>
              </a:ext>
            </a:extLst>
          </p:cNvPr>
          <p:cNvSpPr txBox="1"/>
          <p:nvPr/>
        </p:nvSpPr>
        <p:spPr>
          <a:xfrm>
            <a:off x="905794" y="5240288"/>
            <a:ext cx="10835640" cy="646331"/>
          </a:xfrm>
          <a:prstGeom prst="rect">
            <a:avLst/>
          </a:prstGeom>
          <a:noFill/>
        </p:spPr>
        <p:txBody>
          <a:bodyPr wrap="square">
            <a:spAutoFit/>
          </a:bodyPr>
          <a:lstStyle/>
          <a:p>
            <a:r>
              <a:rPr lang="en-US" dirty="0"/>
              <a:t>“At scale, even a 1% improvement in BOM quality can prevent thousands in losses and hours in delays. I focused on fixing what mattered most - the foundation.”</a:t>
            </a:r>
          </a:p>
        </p:txBody>
      </p:sp>
    </p:spTree>
    <p:extLst>
      <p:ext uri="{BB962C8B-B14F-4D97-AF65-F5344CB8AC3E}">
        <p14:creationId xmlns:p14="http://schemas.microsoft.com/office/powerpoint/2010/main" val="1440897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E633A8-2811-5400-47D9-3EE5466C984E}"/>
              </a:ext>
            </a:extLst>
          </p:cNvPr>
          <p:cNvSpPr>
            <a:spLocks noGrp="1"/>
          </p:cNvSpPr>
          <p:nvPr>
            <p:ph idx="1"/>
          </p:nvPr>
        </p:nvSpPr>
        <p:spPr>
          <a:xfrm>
            <a:off x="3796980" y="809819"/>
            <a:ext cx="5793134" cy="5038065"/>
          </a:xfrm>
        </p:spPr>
        <p:txBody>
          <a:bodyPr anchor="ctr">
            <a:normAutofit/>
          </a:bodyPr>
          <a:lstStyle/>
          <a:p>
            <a:pPr marL="0" indent="0">
              <a:buNone/>
            </a:pPr>
            <a:r>
              <a:rPr lang="en-US" sz="6000" dirty="0">
                <a:latin typeface="Times New Roman" panose="02020603050405020304" pitchFamily="18" charset="0"/>
                <a:cs typeface="Times New Roman" panose="02020603050405020304" pitchFamily="18" charset="0"/>
              </a:rPr>
              <a:t>Thank you </a:t>
            </a:r>
          </a:p>
          <a:p>
            <a:pPr marL="0" indent="0">
              <a:buNone/>
            </a:pPr>
            <a:endParaRPr lang="en-US" sz="2000" dirty="0"/>
          </a:p>
        </p:txBody>
      </p:sp>
      <p:grpSp>
        <p:nvGrpSpPr>
          <p:cNvPr id="15" name="Group 14">
            <a:extLst>
              <a:ext uri="{FF2B5EF4-FFF2-40B4-BE49-F238E27FC236}">
                <a16:creationId xmlns:a16="http://schemas.microsoft.com/office/drawing/2014/main" id="{626842FA-90AD-EEBD-ABE0-E9EF9A5D14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6" name="Rectangle 15">
              <a:extLst>
                <a:ext uri="{FF2B5EF4-FFF2-40B4-BE49-F238E27FC236}">
                  <a16:creationId xmlns:a16="http://schemas.microsoft.com/office/drawing/2014/main" id="{EF621AD8-9B7B-4C37-1CB2-16C6A6AA71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546A872-CF51-D0BD-D9F3-500F32EEB7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60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410251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1678</TotalTime>
  <Words>1514</Words>
  <Application>Microsoft Macintosh PowerPoint</Application>
  <PresentationFormat>Widescreen</PresentationFormat>
  <Paragraphs>130</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Roboto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Conclusion: Achieving Zero Downtime with Robust BOMs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Nisarga Narasimhamurthy</dc:creator>
  <cp:lastModifiedBy>Nisarga Narasimhamurthy</cp:lastModifiedBy>
  <cp:revision>13</cp:revision>
  <dcterms:created xsi:type="dcterms:W3CDTF">2025-05-10T23:11:29Z</dcterms:created>
  <dcterms:modified xsi:type="dcterms:W3CDTF">2025-05-12T13:50:26Z</dcterms:modified>
</cp:coreProperties>
</file>